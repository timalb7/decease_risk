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-2"/>
            <a:ext cx="12191695" cy="6858000"/>
          </a:xfrm>
          <a:prstGeom prst="rect">
            <a:avLst/>
          </a:prstGeom>
          <a:gradFill rotWithShape="1">
            <a:gsLst>
              <a:gs pos="0">
                <a:srgbClr val="0D47A1">
                  <a:alpha val="92000"/>
                </a:srgbClr>
              </a:gs>
              <a:gs pos="100000">
                <a:srgbClr val="01579B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782193"/>
            <a:ext cx="609584" cy="512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925971"/>
            <a:ext cx="7548798" cy="16249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2080"/>
              </a:spcAft>
            </a:pPr>
            <a:r>
              <a:rPr lang="en-US" sz="3707" b="1" noProof="1">
                <a:solidFill>
                  <a:srgbClr val="FFFFFF"/>
                </a:solidFill>
                <a:latin typeface="Noto Sans"/>
              </a:rPr>
              <a:t> Веб-приложение</a:t>
            </a:r>
            <a:r>
              <a:rPr lang="en-US" sz="1104" noProof="1"/>
              <a:t>
</a:t>
            </a:r>
            <a:r>
              <a:rPr lang="en-US" sz="3707" b="1" noProof="1">
                <a:solidFill>
                  <a:srgbClr val="FFFFFF"/>
                </a:solidFill>
                <a:latin typeface="Noto Sans"/>
              </a:rPr>
              <a:t> </a:t>
            </a:r>
            <a:r>
              <a:rPr lang="en-US" sz="3348" b="1" noProof="1">
                <a:solidFill>
                  <a:srgbClr val="FFFFFF"/>
                </a:solidFill>
                <a:latin typeface="Noto Sans"/>
              </a:rPr>
              <a:t>для оценки риска заболеваний</a:t>
            </a:r>
            <a:r>
              <a:rPr lang="en-US" sz="3707" b="1" noProof="1">
                <a:solidFill>
                  <a:srgbClr val="FFFFFF"/>
                </a:solidFill>
                <a:latin typeface="Noto Sans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590264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24" y="5833649"/>
            <a:ext cx="3393814" cy="3151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76" dirty="0">
                <a:solidFill>
                  <a:srgbClr val="E5E7EB"/>
                </a:solidFill>
                <a:latin typeface="Noto Sans"/>
              </a:rPr>
              <a:t>Ингушский государственный университет </a:t>
            </a:r>
            <a:r>
              <a:rPr sz="1076" b="0" dirty="0">
                <a:solidFill>
                  <a:srgbClr val="E5E7EB"/>
                </a:solidFill>
                <a:latin typeface="Noto Sans"/>
              </a:rPr>
              <a:t>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4681" y="923924"/>
            <a:ext cx="2800279" cy="819149"/>
          </a:xfrm>
          <a:prstGeom prst="roundRect">
            <a:avLst>
              <a:gd name="adj" fmla="val 279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4701" y="1243488"/>
            <a:ext cx="228594" cy="1800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67593" y="1087696"/>
            <a:ext cx="1664174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FFFFFF"/>
                </a:solidFill>
                <a:latin typeface="Noto Sans"/>
              </a:rPr>
              <a:t>Сердечно-сосудистые</a:t>
            </a:r>
            <a:endParaRPr sz="1100" b="0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67593" y="1309044"/>
            <a:ext cx="1047018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D1D5DB"/>
                </a:solidFill>
                <a:latin typeface="Noto Sans"/>
              </a:rPr>
              <a:t>заболевания</a:t>
            </a:r>
            <a:endParaRPr sz="1100" b="0" dirty="0">
              <a:solidFill>
                <a:srgbClr val="D1D5DB"/>
              </a:solidFill>
              <a:latin typeface="Noto San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24681" y="1971675"/>
            <a:ext cx="2800279" cy="819149"/>
          </a:xfrm>
          <a:prstGeom prst="roundRect">
            <a:avLst>
              <a:gd name="adj" fmla="val 279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4701" y="2295525"/>
            <a:ext cx="228594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593" y="2135447"/>
            <a:ext cx="888320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FFFFFF"/>
                </a:solidFill>
                <a:latin typeface="Noto Sans"/>
              </a:rPr>
              <a:t>Рак</a:t>
            </a:r>
            <a:r>
              <a:rPr sz="1100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Noto Sans"/>
              </a:rPr>
              <a:t>лёгких</a:t>
            </a:r>
            <a:endParaRPr sz="1100" b="0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67593" y="2356795"/>
            <a:ext cx="880306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D1D5DB"/>
                </a:solidFill>
                <a:latin typeface="Noto Sans"/>
              </a:rPr>
              <a:t>онкология</a:t>
            </a:r>
            <a:endParaRPr sz="1100" b="0" dirty="0">
              <a:solidFill>
                <a:srgbClr val="D1D5DB"/>
              </a:solidFill>
              <a:latin typeface="Noto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24681" y="3019424"/>
            <a:ext cx="2800279" cy="819149"/>
          </a:xfrm>
          <a:prstGeom prst="roundRect">
            <a:avLst>
              <a:gd name="adj" fmla="val 279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24701" y="3346132"/>
            <a:ext cx="228594" cy="1657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67593" y="3183196"/>
            <a:ext cx="1139992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FFFFFF"/>
                </a:solidFill>
                <a:latin typeface="Noto Sans"/>
              </a:rPr>
              <a:t>Артериальная</a:t>
            </a:r>
            <a:endParaRPr sz="1100" b="0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67593" y="3404544"/>
            <a:ext cx="1030988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D1D5DB"/>
                </a:solidFill>
                <a:latin typeface="Noto Sans"/>
              </a:rPr>
              <a:t>гипертензия</a:t>
            </a:r>
            <a:endParaRPr sz="1100" b="0" dirty="0">
              <a:solidFill>
                <a:srgbClr val="D1D5DB"/>
              </a:solidFill>
              <a:latin typeface="Noto San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724681" y="4067174"/>
            <a:ext cx="2800279" cy="819149"/>
          </a:xfrm>
          <a:prstGeom prst="roundRect">
            <a:avLst>
              <a:gd name="adj" fmla="val 279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24701" y="438816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67593" y="4230946"/>
            <a:ext cx="883512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FFFFFF"/>
                </a:solidFill>
                <a:latin typeface="Noto Sans"/>
              </a:rPr>
              <a:t>Ожирение</a:t>
            </a:r>
            <a:endParaRPr sz="1100" b="0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67593" y="4452294"/>
            <a:ext cx="997324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D1D5DB"/>
                </a:solidFill>
                <a:latin typeface="Noto Sans"/>
              </a:rPr>
              <a:t>метаболизм</a:t>
            </a:r>
            <a:endParaRPr sz="1100" b="0" dirty="0">
              <a:solidFill>
                <a:srgbClr val="D1D5DB"/>
              </a:solidFill>
              <a:latin typeface="Noto San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724681" y="5114925"/>
            <a:ext cx="2800279" cy="819149"/>
          </a:xfrm>
          <a:prstGeom prst="roundRect">
            <a:avLst>
              <a:gd name="adj" fmla="val 2790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24701" y="5427344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67593" y="5278697"/>
            <a:ext cx="1660968" cy="3011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FFFFFF"/>
                </a:solidFill>
                <a:latin typeface="Noto Sans"/>
              </a:rPr>
              <a:t>Хроническая</a:t>
            </a:r>
            <a:r>
              <a:rPr sz="1100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Noto Sans"/>
              </a:rPr>
              <a:t>болезнь</a:t>
            </a:r>
            <a:endParaRPr sz="1100" b="0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67593" y="5503507"/>
            <a:ext cx="931602" cy="2705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D1D5DB"/>
                </a:solidFill>
                <a:latin typeface="Noto Sans"/>
              </a:rPr>
              <a:t>почек</a:t>
            </a:r>
            <a:r>
              <a:rPr sz="1050" b="0" dirty="0">
                <a:solidFill>
                  <a:srgbClr val="D1D5DB"/>
                </a:solidFill>
                <a:latin typeface="Noto Sans"/>
              </a:rPr>
              <a:t> (ХБП)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266" y="-95249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-476239" y="4770927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8726"/>
            <a:ext cx="380990" cy="279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2875"/>
            <a:ext cx="581962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  <a:latin typeface="Noto Sans"/>
              </a:rPr>
              <a:t>Актуальность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и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цели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проекта</a:t>
            </a:r>
            <a:endParaRPr sz="2392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6733" y="2247899"/>
            <a:ext cx="76198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95327" y="2238902"/>
            <a:ext cx="1508683" cy="475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47A1"/>
                </a:solidFill>
                <a:latin typeface="Noto Sans"/>
              </a:rPr>
              <a:t>Проблема</a:t>
            </a:r>
            <a:endParaRPr sz="2000" b="1" dirty="0">
              <a:solidFill>
                <a:srgbClr val="0D47A1"/>
              </a:solidFill>
              <a:latin typeface="Noto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99209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22" y="2933699"/>
            <a:ext cx="4343291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374151"/>
                </a:solidFill>
                <a:latin typeface="Noto Sans"/>
              </a:rPr>
              <a:t>Поздняя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диагностика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заболеваний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снижает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эффективность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лечения</a:t>
            </a:r>
            <a:endParaRPr sz="1196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821181"/>
            <a:ext cx="266693" cy="16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22" y="3733799"/>
            <a:ext cx="4343291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374151"/>
                </a:solidFill>
                <a:latin typeface="Noto Sans"/>
              </a:rPr>
              <a:t>Недостаток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осведомленности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о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факторах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риска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среди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населения</a:t>
            </a:r>
            <a:endParaRPr sz="1196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611342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5822" y="4552949"/>
            <a:ext cx="4343291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374151"/>
                </a:solidFill>
                <a:latin typeface="Noto Sans"/>
              </a:rPr>
              <a:t>Ограниченный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доступ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к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профилактическим</a:t>
            </a:r>
            <a:r>
              <a:rPr sz="119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374151"/>
                </a:solidFill>
                <a:latin typeface="Noto Sans"/>
              </a:rPr>
              <a:t>инструментам</a:t>
            </a:r>
            <a:endParaRPr sz="1196" b="0" dirty="0">
              <a:solidFill>
                <a:srgbClr val="374151"/>
              </a:solidFill>
              <a:latin typeface="Noto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5847" y="857250"/>
            <a:ext cx="6095847" cy="60007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762580" y="1743075"/>
            <a:ext cx="76198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991175" y="1734078"/>
            <a:ext cx="849848" cy="475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47A1"/>
                </a:solidFill>
                <a:latin typeface="Noto Sans"/>
              </a:rPr>
              <a:t>Цели</a:t>
            </a:r>
            <a:endParaRPr sz="20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62580" y="2428875"/>
            <a:ext cx="4762380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352371" y="28390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1175" y="2800764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10264" y="2619374"/>
            <a:ext cx="392420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Разработка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алгоритмов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расчета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вероятности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заболеваний</a:t>
            </a:r>
            <a:endParaRPr sz="1196" b="0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62580" y="3571875"/>
            <a:ext cx="4762380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352371" y="39820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1175" y="3952460"/>
            <a:ext cx="266693" cy="1913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10264" y="3762374"/>
            <a:ext cx="392420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Создание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доступного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веб-инструмента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для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пользователей</a:t>
            </a:r>
            <a:endParaRPr sz="1196" b="0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62580" y="4714875"/>
            <a:ext cx="4762380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352371" y="51250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1175" y="5086764"/>
            <a:ext cx="266693" cy="208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10264" y="4905375"/>
            <a:ext cx="392420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Практическое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применение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языков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программирования</a:t>
            </a:r>
            <a:endParaRPr sz="1196" b="0" dirty="0">
              <a:solidFill>
                <a:srgbClr val="1F2937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94679"/>
            <a:ext cx="380990" cy="2678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2875"/>
            <a:ext cx="509574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  <a:latin typeface="Noto Sans"/>
              </a:rPr>
              <a:t>Функционал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приложения</a:t>
            </a:r>
            <a:endParaRPr sz="2392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6733" y="1638299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95327" y="1610439"/>
            <a:ext cx="3179012" cy="436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47A1"/>
                </a:solidFill>
                <a:latin typeface="Noto Sans"/>
              </a:rPr>
              <a:t>Целевые</a:t>
            </a:r>
            <a:r>
              <a:rPr sz="20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2000" b="1" dirty="0" err="1">
                <a:solidFill>
                  <a:srgbClr val="0D47A1"/>
                </a:solidFill>
                <a:latin typeface="Noto Sans"/>
              </a:rPr>
              <a:t>заболевания</a:t>
            </a:r>
            <a:endParaRPr sz="20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6733" y="2257425"/>
            <a:ext cx="2609784" cy="131445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75548" y="2848610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27" y="2480163"/>
            <a:ext cx="304792" cy="2403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27" y="2828925"/>
            <a:ext cx="219069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>
                <a:solidFill>
                  <a:srgbClr val="1F2937"/>
                </a:solidFill>
                <a:latin typeface="Noto Sans"/>
              </a:rPr>
              <a:t>ССЗ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27" y="3118925"/>
            <a:ext cx="2274918" cy="2963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Сердечно-сосудистые</a:t>
            </a:r>
            <a:r>
              <a:rPr lang="en-US"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lang="ru-RU" sz="956" b="0" dirty="0">
                <a:solidFill>
                  <a:srgbClr val="4B5563"/>
                </a:solidFill>
                <a:latin typeface="Noto Sans"/>
              </a:rPr>
              <a:t>заболевания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28914" y="2257425"/>
            <a:ext cx="2609784" cy="131445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2837729" y="2848610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8" y="2487490"/>
            <a:ext cx="304792" cy="2256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508" y="2828925"/>
            <a:ext cx="219069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 err="1">
                <a:solidFill>
                  <a:srgbClr val="1F2937"/>
                </a:solidFill>
                <a:latin typeface="Noto Sans"/>
              </a:rPr>
              <a:t>Рак</a:t>
            </a:r>
            <a:r>
              <a:rPr sz="1196" b="1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1F2937"/>
                </a:solidFill>
                <a:latin typeface="Noto Sans"/>
              </a:rPr>
              <a:t>лёгких</a:t>
            </a:r>
            <a:endParaRPr sz="1196" b="1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508" y="3152775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Онкология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6733" y="3724274"/>
            <a:ext cx="2609784" cy="131445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5548" y="4315459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3958736"/>
            <a:ext cx="304792" cy="2168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5327" y="4295774"/>
            <a:ext cx="219069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 err="1">
                <a:solidFill>
                  <a:srgbClr val="1F2937"/>
                </a:solidFill>
                <a:latin typeface="Noto Sans"/>
              </a:rPr>
              <a:t>Гипертензия</a:t>
            </a:r>
            <a:endParaRPr sz="1196" b="1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5327" y="4619625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Артериальная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8914" y="3724274"/>
            <a:ext cx="2609784" cy="1314450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837729" y="4315459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508" y="3949944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7508" y="4295774"/>
            <a:ext cx="219069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 err="1">
                <a:solidFill>
                  <a:srgbClr val="1F2937"/>
                </a:solidFill>
                <a:latin typeface="Noto Sans"/>
              </a:rPr>
              <a:t>Ожирение</a:t>
            </a:r>
            <a:endParaRPr sz="1196" b="1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508" y="4619625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Метаболизм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6733" y="5191125"/>
            <a:ext cx="5371965" cy="895350"/>
          </a:xfrm>
          <a:prstGeom prst="roundRect">
            <a:avLst>
              <a:gd name="adj" fmla="val 25531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285098" y="5572760"/>
            <a:ext cx="895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5327" y="5509846"/>
            <a:ext cx="304792" cy="2579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4417" y="5381624"/>
            <a:ext cx="336224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 err="1">
                <a:solidFill>
                  <a:srgbClr val="1F2937"/>
                </a:solidFill>
                <a:latin typeface="Noto Sans"/>
              </a:rPr>
              <a:t>Хроническая</a:t>
            </a:r>
            <a:r>
              <a:rPr sz="1196" b="1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1F2937"/>
                </a:solidFill>
                <a:latin typeface="Noto Sans"/>
              </a:rPr>
              <a:t>болезнь</a:t>
            </a:r>
            <a:r>
              <a:rPr sz="1196" b="1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1F2937"/>
                </a:solidFill>
                <a:latin typeface="Noto Sans"/>
              </a:rPr>
              <a:t>почек</a:t>
            </a:r>
            <a:r>
              <a:rPr sz="1196" b="1" dirty="0">
                <a:solidFill>
                  <a:srgbClr val="1F2937"/>
                </a:solidFill>
                <a:latin typeface="Noto Sans"/>
              </a:rPr>
              <a:t> (ХБП)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4417" y="5667374"/>
            <a:ext cx="336224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Нефрология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05432" y="857250"/>
            <a:ext cx="5486262" cy="60007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7372165" y="1638299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600759" y="1628775"/>
            <a:ext cx="274313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 err="1">
                <a:solidFill>
                  <a:srgbClr val="0D47A1"/>
                </a:solidFill>
                <a:latin typeface="Noto Sans"/>
              </a:rPr>
              <a:t>Ключевые</a:t>
            </a:r>
            <a:r>
              <a:rPr sz="1674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674" b="1" dirty="0" err="1">
                <a:solidFill>
                  <a:srgbClr val="0D47A1"/>
                </a:solidFill>
                <a:latin typeface="Noto Sans"/>
              </a:rPr>
              <a:t>функции</a:t>
            </a:r>
            <a:endParaRPr sz="1674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72165" y="2257425"/>
            <a:ext cx="4152796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561" y="2448339"/>
            <a:ext cx="266693" cy="20872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43651" y="2409825"/>
            <a:ext cx="250501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Ввод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медицинских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данных</a:t>
            </a:r>
            <a:endParaRPr sz="1196" b="0" dirty="0">
              <a:solidFill>
                <a:srgbClr val="1F2937"/>
              </a:solidFill>
              <a:latin typeface="Noto San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72165" y="3000375"/>
            <a:ext cx="4152796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24561" y="3191289"/>
            <a:ext cx="266693" cy="20872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43651" y="3152775"/>
            <a:ext cx="215259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Расчет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вероятности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(%)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72165" y="3743325"/>
            <a:ext cx="4152796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561" y="3954531"/>
            <a:ext cx="266693" cy="1681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943651" y="3895724"/>
            <a:ext cx="200019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 err="1">
                <a:solidFill>
                  <a:srgbClr val="1F2937"/>
                </a:solidFill>
                <a:latin typeface="Noto Sans"/>
              </a:rPr>
              <a:t>Визуализация</a:t>
            </a:r>
            <a:r>
              <a:rPr sz="1196" b="0" dirty="0">
                <a:solidFill>
                  <a:srgbClr val="1F2937"/>
                </a:solidFill>
                <a:latin typeface="Noto Sans"/>
              </a:rPr>
              <a:t> </a:t>
            </a:r>
            <a:r>
              <a:rPr sz="1196" b="0" dirty="0" err="1">
                <a:solidFill>
                  <a:srgbClr val="1F2937"/>
                </a:solidFill>
                <a:latin typeface="Noto Sans"/>
              </a:rPr>
              <a:t>рисков</a:t>
            </a:r>
            <a:endParaRPr sz="1196" b="0" dirty="0">
              <a:solidFill>
                <a:srgbClr val="1F2937"/>
              </a:solidFill>
              <a:latin typeface="Noto Sans"/>
            </a:endParaRP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25FEFF13-A631-60A2-F069-59C0895F7D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560" y="4486273"/>
            <a:ext cx="3772113" cy="2202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27421"/>
            <a:ext cx="380990" cy="202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6079"/>
            <a:ext cx="3778535" cy="5650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noProof="1">
                <a:solidFill>
                  <a:srgbClr val="FFFFFF"/>
                </a:solidFill>
                <a:latin typeface="Noto Sans"/>
              </a:rPr>
              <a:t>Технологический стек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01" y="1967274"/>
            <a:ext cx="304792" cy="216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990" y="1862769"/>
            <a:ext cx="1133580" cy="425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noProof="1">
                <a:solidFill>
                  <a:srgbClr val="0D47A1"/>
                </a:solidFill>
                <a:latin typeface="Noto Sans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01" y="2466238"/>
            <a:ext cx="1685882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FFF7ED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13642" y="2895497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TextBox 8"/>
          <p:cNvSpPr txBox="1"/>
          <p:nvPr/>
        </p:nvSpPr>
        <p:spPr>
          <a:xfrm>
            <a:off x="918439" y="2638424"/>
            <a:ext cx="772904" cy="3795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435" b="1" noProof="1">
                <a:solidFill>
                  <a:srgbClr val="EA580C"/>
                </a:solidFill>
                <a:latin typeface="Noto Sans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462" y="3005812"/>
            <a:ext cx="748858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Структура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1180" y="2466238"/>
            <a:ext cx="1685882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1851921" y="2895497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TextBox 12"/>
          <p:cNvSpPr txBox="1"/>
          <p:nvPr/>
        </p:nvSpPr>
        <p:spPr>
          <a:xfrm>
            <a:off x="2909805" y="2638424"/>
            <a:ext cx="466730" cy="3795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435" b="1" noProof="1">
                <a:solidFill>
                  <a:srgbClr val="2563EB"/>
                </a:solidFill>
                <a:latin typeface="Noto San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8165" y="3005812"/>
            <a:ext cx="510011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Стили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8984" y="2466238"/>
            <a:ext cx="1685882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FEFCE8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99725" y="2895497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TextBox 16"/>
          <p:cNvSpPr txBox="1"/>
          <p:nvPr/>
        </p:nvSpPr>
        <p:spPr>
          <a:xfrm>
            <a:off x="4457847" y="2638424"/>
            <a:ext cx="1066254" cy="3795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435" b="1" noProof="1">
                <a:solidFill>
                  <a:srgbClr val="A16207"/>
                </a:solidFill>
                <a:latin typeface="Noto Sans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4710" y="3005812"/>
            <a:ext cx="572529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Логика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901" y="3844432"/>
            <a:ext cx="304792" cy="2344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1990" y="3748720"/>
            <a:ext cx="1069460" cy="425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noProof="1">
                <a:solidFill>
                  <a:srgbClr val="0D47A1"/>
                </a:solidFill>
                <a:latin typeface="Noto Sans"/>
              </a:rP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901" y="4352188"/>
            <a:ext cx="2609784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3642" y="4781447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/>
          <p:cNvSpPr txBox="1"/>
          <p:nvPr/>
        </p:nvSpPr>
        <p:spPr>
          <a:xfrm>
            <a:off x="671495" y="4524374"/>
            <a:ext cx="801758" cy="3795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435" b="1" noProof="1">
                <a:solidFill>
                  <a:srgbClr val="16A34A"/>
                </a:solidFill>
                <a:latin typeface="Noto Sans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495" y="4891762"/>
            <a:ext cx="1077474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Основной язык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4141" y="3853224"/>
            <a:ext cx="304792" cy="2168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743230" y="3748719"/>
            <a:ext cx="1582421" cy="425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noProof="1">
                <a:solidFill>
                  <a:srgbClr val="0D47A1"/>
                </a:solidFill>
                <a:latin typeface="Noto Sans"/>
              </a:rPr>
              <a:t>База данных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4141" y="4352188"/>
            <a:ext cx="2886002" cy="990599"/>
          </a:xfrm>
          <a:prstGeom prst="roundRect">
            <a:avLst>
              <a:gd name="adj" fmla="val 23076"/>
            </a:avLst>
          </a:prstGeom>
          <a:gradFill rotWithShape="1">
            <a:gsLst>
              <a:gs pos="0">
                <a:srgbClr val="FAF5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2894882" y="4781447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3" name="TextBox 32"/>
          <p:cNvSpPr txBox="1"/>
          <p:nvPr/>
        </p:nvSpPr>
        <p:spPr>
          <a:xfrm>
            <a:off x="3552735" y="4524375"/>
            <a:ext cx="744050" cy="3795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435" b="1" noProof="1">
                <a:solidFill>
                  <a:srgbClr val="9333EA"/>
                </a:solidFill>
                <a:latin typeface="Noto Sans"/>
              </a:rP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2735" y="4891762"/>
            <a:ext cx="2170722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Хранение данных пользователей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5432" y="857250"/>
            <a:ext cx="5486262" cy="6286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6832EF9-D62C-E111-3913-87FBD1EBE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0371" y="1311056"/>
            <a:ext cx="4473228" cy="5116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27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6079"/>
            <a:ext cx="4317144" cy="5650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noProof="1">
                <a:solidFill>
                  <a:srgbClr val="FFFFFF"/>
                </a:solidFill>
                <a:latin typeface="Noto Sans"/>
              </a:rPr>
              <a:t>Алгоритм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расчета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рисков</a:t>
            </a:r>
            <a:endParaRPr sz="2392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4461" y="1958021"/>
            <a:ext cx="2901220" cy="3062008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330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679451" y="2171732"/>
            <a:ext cx="663135" cy="653228"/>
          </a:xfrm>
          <a:prstGeom prst="roundRect">
            <a:avLst>
              <a:gd name="adj" fmla="val 31246875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799" y="2343510"/>
            <a:ext cx="373014" cy="289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3054" y="2993083"/>
            <a:ext cx="2403867" cy="3916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1" dirty="0" err="1">
                <a:solidFill>
                  <a:srgbClr val="0D47A1"/>
                </a:solidFill>
                <a:latin typeface="Noto Sans"/>
              </a:rPr>
              <a:t>Ввод</a:t>
            </a:r>
            <a:r>
              <a:rPr b="1" dirty="0">
                <a:solidFill>
                  <a:srgbClr val="0D47A1"/>
                </a:solidFill>
                <a:latin typeface="Noto Sans"/>
              </a:rPr>
              <a:t> </a:t>
            </a:r>
            <a:r>
              <a:rPr b="1" dirty="0" err="1">
                <a:solidFill>
                  <a:srgbClr val="0D47A1"/>
                </a:solidFill>
                <a:latin typeface="Noto Sans"/>
              </a:rPr>
              <a:t>данных</a:t>
            </a:r>
            <a:endParaRPr b="1" dirty="0">
              <a:solidFill>
                <a:srgbClr val="0D47A1"/>
              </a:solidFill>
              <a:latin typeface="Noto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55" y="3518216"/>
            <a:ext cx="145060" cy="87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600" y="3399172"/>
            <a:ext cx="1025788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Возраст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,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пол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55" y="3823016"/>
            <a:ext cx="145060" cy="87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600" y="3703972"/>
            <a:ext cx="1170850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374151"/>
                </a:solidFill>
                <a:latin typeface="Noto Sans"/>
              </a:rPr>
              <a:t>ИМТ,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рост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,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вес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55" y="4127816"/>
            <a:ext cx="145060" cy="87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600" y="4008773"/>
            <a:ext cx="1326272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Давление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,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пульс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55" y="4432616"/>
            <a:ext cx="145060" cy="870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600" y="4313573"/>
            <a:ext cx="1574947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Вредные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привычки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3820" y="3183968"/>
            <a:ext cx="457188" cy="3188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10108" y="1958021"/>
            <a:ext cx="2901220" cy="3062008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775099" y="2171732"/>
            <a:ext cx="663135" cy="653228"/>
          </a:xfrm>
          <a:prstGeom prst="roundRect">
            <a:avLst>
              <a:gd name="adj" fmla="val 31246875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8446" y="2355334"/>
            <a:ext cx="373014" cy="263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38702" y="2973115"/>
            <a:ext cx="2403867" cy="3916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1" dirty="0" err="1">
                <a:solidFill>
                  <a:srgbClr val="0D47A1"/>
                </a:solidFill>
                <a:latin typeface="Noto Sans"/>
              </a:rPr>
              <a:t>Обработка</a:t>
            </a:r>
            <a:endParaRPr b="1" dirty="0">
              <a:solidFill>
                <a:srgbClr val="0D47A1"/>
              </a:solidFill>
              <a:latin typeface="Noto San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703" y="3518216"/>
            <a:ext cx="145060" cy="870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48247" y="3395586"/>
            <a:ext cx="1927238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Статистические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модели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703" y="3823016"/>
            <a:ext cx="145060" cy="8703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48247" y="3700386"/>
            <a:ext cx="1129404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Риск-факторы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703" y="4127816"/>
            <a:ext cx="145060" cy="870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247" y="4005187"/>
            <a:ext cx="1233018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Коэффициенты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703" y="4432616"/>
            <a:ext cx="145060" cy="87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48247" y="4309987"/>
            <a:ext cx="1440248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Формулы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расчета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9468" y="3183968"/>
            <a:ext cx="457188" cy="31883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705756" y="1958021"/>
            <a:ext cx="2901220" cy="3062008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330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9870746" y="2171732"/>
            <a:ext cx="663135" cy="653228"/>
          </a:xfrm>
          <a:prstGeom prst="roundRect">
            <a:avLst>
              <a:gd name="adj" fmla="val 31246875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04094" y="2343510"/>
            <a:ext cx="373014" cy="2894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34349" y="2973115"/>
            <a:ext cx="2403867" cy="3916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1" dirty="0" err="1">
                <a:solidFill>
                  <a:srgbClr val="0D47A1"/>
                </a:solidFill>
                <a:latin typeface="Noto Sans"/>
              </a:rPr>
              <a:t>Результат</a:t>
            </a:r>
            <a:endParaRPr b="1" dirty="0">
              <a:solidFill>
                <a:srgbClr val="0D47A1"/>
              </a:solidFill>
              <a:latin typeface="Noto Sans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350" y="3518216"/>
            <a:ext cx="145060" cy="8703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43895" y="3395586"/>
            <a:ext cx="1295187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Вероятность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 (%)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350" y="3823016"/>
            <a:ext cx="145060" cy="870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43895" y="3700386"/>
            <a:ext cx="1181210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Уровень</a:t>
            </a:r>
            <a:r>
              <a:rPr sz="1100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100" b="0" dirty="0" err="1">
                <a:solidFill>
                  <a:srgbClr val="374151"/>
                </a:solidFill>
                <a:latin typeface="Noto Sans"/>
              </a:rPr>
              <a:t>риска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350" y="4127816"/>
            <a:ext cx="145060" cy="870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3895" y="4005187"/>
            <a:ext cx="1139764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Визуализация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350" y="4432616"/>
            <a:ext cx="145060" cy="870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43895" y="4309987"/>
            <a:ext cx="1191572" cy="2994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74151"/>
                </a:solidFill>
                <a:latin typeface="Noto Sans"/>
              </a:rPr>
              <a:t>Рекомендации</a:t>
            </a:r>
            <a:endParaRPr sz="1100" b="0" dirty="0">
              <a:solidFill>
                <a:srgbClr val="374151"/>
              </a:solidFill>
              <a:latin typeface="Noto San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095999"/>
            <a:ext cx="12191695" cy="76199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733" y="6363942"/>
            <a:ext cx="266693" cy="22611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5822" y="6343650"/>
            <a:ext cx="691497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 err="1">
                <a:solidFill>
                  <a:srgbClr val="4B5563"/>
                </a:solidFill>
                <a:latin typeface="Noto Sans"/>
              </a:rPr>
              <a:t>Алгоритм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основан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на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эпидемиологических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данных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и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медицинских</a:t>
            </a:r>
            <a:r>
              <a:rPr sz="107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4B5563"/>
                </a:solidFill>
                <a:latin typeface="Noto Sans"/>
              </a:rPr>
              <a:t>исследованиях</a:t>
            </a:r>
            <a:endParaRPr sz="1076" b="0" dirty="0">
              <a:solidFill>
                <a:srgbClr val="4B5563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27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6079"/>
            <a:ext cx="4095929" cy="56509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noProof="1">
                <a:solidFill>
                  <a:srgbClr val="FFFFFF"/>
                </a:solidFill>
                <a:latin typeface="Noto Sans"/>
              </a:rPr>
              <a:t>Интерфейс приложения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4366" y="1615263"/>
            <a:ext cx="2762180" cy="4976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Удобная форма для заполнения медицинских показателей и привычек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6187" y="3056057"/>
            <a:ext cx="3790855" cy="1419225"/>
          </a:xfrm>
          <a:prstGeom prst="roundRect">
            <a:avLst>
              <a:gd name="adj" fmla="val 16107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8" name="Rounded Rectangle 17"/>
          <p:cNvSpPr/>
          <p:nvPr/>
        </p:nvSpPr>
        <p:spPr>
          <a:xfrm>
            <a:off x="7866187" y="4665781"/>
            <a:ext cx="3790855" cy="1190625"/>
          </a:xfrm>
          <a:prstGeom prst="roundRect">
            <a:avLst>
              <a:gd name="adj" fmla="val 19200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/>
          <p:cNvSpPr txBox="1"/>
          <p:nvPr/>
        </p:nvSpPr>
        <p:spPr>
          <a:xfrm>
            <a:off x="8704366" y="5188488"/>
            <a:ext cx="2762180" cy="4976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Интуитивные графики и диаграммы для наглядного отображения рисков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9311C09-946A-F4F7-095C-0C615EA08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35" y="1061209"/>
            <a:ext cx="5683334" cy="52891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7234E414-76A5-A0BC-458C-5B3DB508074C}"/>
              </a:ext>
            </a:extLst>
          </p:cNvPr>
          <p:cNvSpPr/>
          <p:nvPr/>
        </p:nvSpPr>
        <p:spPr>
          <a:xfrm>
            <a:off x="7866187" y="1467327"/>
            <a:ext cx="3790855" cy="1419225"/>
          </a:xfrm>
          <a:prstGeom prst="roundRect">
            <a:avLst>
              <a:gd name="adj" fmla="val 15475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1" name="Round Same Side Corner Rectangle 6">
            <a:extLst>
              <a:ext uri="{FF2B5EF4-FFF2-40B4-BE49-F238E27FC236}">
                <a16:creationId xmlns:a16="http://schemas.microsoft.com/office/drawing/2014/main" id="{B3C9ACC0-A99A-F511-4E00-27B8F10A51FA}"/>
              </a:ext>
            </a:extLst>
          </p:cNvPr>
          <p:cNvSpPr/>
          <p:nvPr/>
        </p:nvSpPr>
        <p:spPr>
          <a:xfrm rot="16200000">
            <a:off x="7222615" y="2110899"/>
            <a:ext cx="1419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7B0E853A-59C5-974D-4FF9-B2F5AEE4D805}"/>
              </a:ext>
            </a:extLst>
          </p:cNvPr>
          <p:cNvSpPr/>
          <p:nvPr/>
        </p:nvSpPr>
        <p:spPr>
          <a:xfrm>
            <a:off x="8094781" y="1657826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3" name="Picture 8" descr="image.png">
            <a:extLst>
              <a:ext uri="{FF2B5EF4-FFF2-40B4-BE49-F238E27FC236}">
                <a16:creationId xmlns:a16="http://schemas.microsoft.com/office/drawing/2014/main" id="{B6F756D0-0421-45BA-CC0B-605DCD1086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079" y="1810703"/>
            <a:ext cx="228594" cy="15144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C4E7187-4B7A-A67B-5674-3D570B5F0547}"/>
              </a:ext>
            </a:extLst>
          </p:cNvPr>
          <p:cNvSpPr txBox="1"/>
          <p:nvPr/>
        </p:nvSpPr>
        <p:spPr>
          <a:xfrm>
            <a:off x="8704366" y="1636831"/>
            <a:ext cx="1308307" cy="35631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315" b="1" noProof="1">
                <a:solidFill>
                  <a:srgbClr val="0D47A1"/>
                </a:solidFill>
                <a:latin typeface="Noto Sans"/>
              </a:rPr>
              <a:t>Ввод данных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AFA252-032D-4766-659B-EFF666C402BE}"/>
              </a:ext>
            </a:extLst>
          </p:cNvPr>
          <p:cNvSpPr txBox="1"/>
          <p:nvPr/>
        </p:nvSpPr>
        <p:spPr>
          <a:xfrm>
            <a:off x="8704366" y="2104333"/>
            <a:ext cx="2762180" cy="4976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Удобная форма для заполнения медицинских показателей и привычек</a:t>
            </a:r>
          </a:p>
        </p:txBody>
      </p:sp>
      <p:sp>
        <p:nvSpPr>
          <p:cNvPr id="36" name="Round Same Side Corner Rectangle 12">
            <a:extLst>
              <a:ext uri="{FF2B5EF4-FFF2-40B4-BE49-F238E27FC236}">
                <a16:creationId xmlns:a16="http://schemas.microsoft.com/office/drawing/2014/main" id="{12816912-960E-4F65-4CF4-A638058A58D7}"/>
              </a:ext>
            </a:extLst>
          </p:cNvPr>
          <p:cNvSpPr/>
          <p:nvPr/>
        </p:nvSpPr>
        <p:spPr>
          <a:xfrm rot="16200000">
            <a:off x="7222615" y="3720624"/>
            <a:ext cx="1419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E8DC637A-6AE6-663F-FBE0-906A7CDFC069}"/>
              </a:ext>
            </a:extLst>
          </p:cNvPr>
          <p:cNvSpPr/>
          <p:nvPr/>
        </p:nvSpPr>
        <p:spPr>
          <a:xfrm>
            <a:off x="8094781" y="3267551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8" name="Picture 14" descr="image.png">
            <a:extLst>
              <a:ext uri="{FF2B5EF4-FFF2-40B4-BE49-F238E27FC236}">
                <a16:creationId xmlns:a16="http://schemas.microsoft.com/office/drawing/2014/main" id="{45FE45B7-41DA-58B2-0D6E-4FED17A822B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079" y="3407569"/>
            <a:ext cx="228594" cy="17716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F57AFC5-292D-A38B-36BA-3CFEF71BF3D6}"/>
              </a:ext>
            </a:extLst>
          </p:cNvPr>
          <p:cNvSpPr txBox="1"/>
          <p:nvPr/>
        </p:nvSpPr>
        <p:spPr>
          <a:xfrm>
            <a:off x="8704366" y="3246556"/>
            <a:ext cx="1941494" cy="35631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315" b="1" noProof="1">
                <a:solidFill>
                  <a:srgbClr val="0D47A1"/>
                </a:solidFill>
                <a:latin typeface="Noto Sans"/>
              </a:rPr>
              <a:t>Мгновенный расчет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885C42-828B-5756-376E-C4337981E367}"/>
              </a:ext>
            </a:extLst>
          </p:cNvPr>
          <p:cNvSpPr txBox="1"/>
          <p:nvPr/>
        </p:nvSpPr>
        <p:spPr>
          <a:xfrm>
            <a:off x="8704366" y="3714058"/>
            <a:ext cx="2762180" cy="4976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4B5563"/>
                </a:solidFill>
                <a:latin typeface="Noto Sans"/>
              </a:rPr>
              <a:t>Быстрый анализ данных и вычисление вероятности заболеваний</a:t>
            </a:r>
          </a:p>
        </p:txBody>
      </p:sp>
      <p:sp>
        <p:nvSpPr>
          <p:cNvPr id="41" name="Round Same Side Corner Rectangle 18">
            <a:extLst>
              <a:ext uri="{FF2B5EF4-FFF2-40B4-BE49-F238E27FC236}">
                <a16:creationId xmlns:a16="http://schemas.microsoft.com/office/drawing/2014/main" id="{AA85C3E9-099D-437E-D772-0E11FBDB1FC6}"/>
              </a:ext>
            </a:extLst>
          </p:cNvPr>
          <p:cNvSpPr/>
          <p:nvPr/>
        </p:nvSpPr>
        <p:spPr>
          <a:xfrm rot="16200000">
            <a:off x="7336915" y="5216048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2" name="Rounded Rectangle 19">
            <a:extLst>
              <a:ext uri="{FF2B5EF4-FFF2-40B4-BE49-F238E27FC236}">
                <a16:creationId xmlns:a16="http://schemas.microsoft.com/office/drawing/2014/main" id="{45D743E1-4867-8CEF-CA92-0BB6E436C9E3}"/>
              </a:ext>
            </a:extLst>
          </p:cNvPr>
          <p:cNvSpPr/>
          <p:nvPr/>
        </p:nvSpPr>
        <p:spPr>
          <a:xfrm>
            <a:off x="8094781" y="4877277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43" name="Picture 20" descr="image.png">
            <a:extLst>
              <a:ext uri="{FF2B5EF4-FFF2-40B4-BE49-F238E27FC236}">
                <a16:creationId xmlns:a16="http://schemas.microsoft.com/office/drawing/2014/main" id="{BC24FA1B-8EA8-D338-31E9-2E3E56BE5DB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9079" y="5034439"/>
            <a:ext cx="228594" cy="1428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DB3B880-F97C-0219-6529-A9FD234FAC5A}"/>
              </a:ext>
            </a:extLst>
          </p:cNvPr>
          <p:cNvSpPr txBox="1"/>
          <p:nvPr/>
        </p:nvSpPr>
        <p:spPr>
          <a:xfrm>
            <a:off x="8704366" y="4856282"/>
            <a:ext cx="1438151" cy="35631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315" b="1" noProof="1">
                <a:solidFill>
                  <a:srgbClr val="0D47A1"/>
                </a:solidFill>
                <a:latin typeface="Noto Sans"/>
              </a:rPr>
              <a:t>Визуализация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27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2875"/>
            <a:ext cx="42575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  <a:latin typeface="Noto Sans"/>
              </a:rPr>
              <a:t>Результаты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и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выводы</a:t>
            </a:r>
            <a:endParaRPr sz="2392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6733" y="1885950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95327" y="1858088"/>
            <a:ext cx="1911036" cy="436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solidFill>
                  <a:srgbClr val="0D47A1"/>
                </a:solidFill>
                <a:latin typeface="Noto Sans"/>
              </a:rPr>
              <a:t>Особенности</a:t>
            </a:r>
            <a:endParaRPr sz="20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6733" y="2505074"/>
            <a:ext cx="5371965" cy="933449"/>
          </a:xfrm>
          <a:prstGeom prst="roundRect">
            <a:avLst>
              <a:gd name="adj" fmla="val 24489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66049" y="290575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95327" y="27050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2858742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9209" y="2663691"/>
            <a:ext cx="3145348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 dirty="0" err="1">
                <a:solidFill>
                  <a:srgbClr val="0D47A1"/>
                </a:solidFill>
                <a:latin typeface="Noto Sans"/>
              </a:rPr>
              <a:t>Корректная</a:t>
            </a:r>
            <a:r>
              <a:rPr sz="14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400" b="1" dirty="0" err="1">
                <a:solidFill>
                  <a:srgbClr val="0D47A1"/>
                </a:solidFill>
                <a:latin typeface="Noto Sans"/>
              </a:rPr>
              <a:t>работа</a:t>
            </a:r>
            <a:r>
              <a:rPr sz="14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400" b="1" dirty="0" err="1">
                <a:solidFill>
                  <a:srgbClr val="0D47A1"/>
                </a:solidFill>
                <a:latin typeface="Noto Sans"/>
              </a:rPr>
              <a:t>алгоритмов</a:t>
            </a:r>
            <a:endParaRPr sz="14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19209" y="2984837"/>
            <a:ext cx="3448316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B5563"/>
                </a:solidFill>
                <a:latin typeface="Noto Sans"/>
              </a:rPr>
              <a:t>Точный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расчет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вероятности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для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всех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5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заболеваний</a:t>
            </a:r>
            <a:endParaRPr sz="1000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6733" y="3590924"/>
            <a:ext cx="5371965" cy="1162050"/>
          </a:xfrm>
          <a:prstGeom prst="roundRect">
            <a:avLst>
              <a:gd name="adj" fmla="val 1967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151748" y="4105909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95327" y="39052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486" y="4038599"/>
            <a:ext cx="219069" cy="2666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19209" y="3749540"/>
            <a:ext cx="2096984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 dirty="0" err="1">
                <a:solidFill>
                  <a:srgbClr val="0D47A1"/>
                </a:solidFill>
                <a:latin typeface="Noto Sans"/>
              </a:rPr>
              <a:t>Удобный</a:t>
            </a:r>
            <a:r>
              <a:rPr sz="14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400" b="1" dirty="0" err="1">
                <a:solidFill>
                  <a:srgbClr val="0D47A1"/>
                </a:solidFill>
                <a:latin typeface="Noto Sans"/>
              </a:rPr>
              <a:t>интерфейс</a:t>
            </a:r>
            <a:endParaRPr sz="14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19209" y="4082395"/>
            <a:ext cx="4228994" cy="5029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noProof="1">
                <a:solidFill>
                  <a:srgbClr val="4B5563"/>
                </a:solidFill>
                <a:latin typeface="Noto Sans"/>
              </a:rPr>
              <a:t>Интуитивно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понятный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дизайн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для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широкого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круга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пользователей</a:t>
            </a:r>
            <a:endParaRPr sz="1000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6733" y="4905375"/>
            <a:ext cx="5371965" cy="933449"/>
          </a:xfrm>
          <a:prstGeom prst="roundRect">
            <a:avLst>
              <a:gd name="adj" fmla="val 24489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266049" y="5306059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895327" y="51054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5266289"/>
            <a:ext cx="266693" cy="2116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19209" y="5063990"/>
            <a:ext cx="2193164" cy="3495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 dirty="0" err="1">
                <a:solidFill>
                  <a:srgbClr val="0D47A1"/>
                </a:solidFill>
                <a:latin typeface="Noto Sans"/>
              </a:rPr>
              <a:t>Практическая</a:t>
            </a:r>
            <a:r>
              <a:rPr sz="14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400" b="1" dirty="0" err="1">
                <a:solidFill>
                  <a:srgbClr val="0D47A1"/>
                </a:solidFill>
                <a:latin typeface="Noto Sans"/>
              </a:rPr>
              <a:t>польза</a:t>
            </a:r>
            <a:endParaRPr sz="14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19209" y="5385138"/>
            <a:ext cx="3467552" cy="2977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B5563"/>
                </a:solidFill>
                <a:latin typeface="Noto Sans"/>
              </a:rPr>
              <a:t>Инструмент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для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ранней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профилактики</a:t>
            </a:r>
            <a:r>
              <a:rPr sz="1000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1000" b="0" dirty="0" err="1">
                <a:solidFill>
                  <a:srgbClr val="4B5563"/>
                </a:solidFill>
                <a:latin typeface="Noto Sans"/>
              </a:rPr>
              <a:t>заболеваний</a:t>
            </a:r>
            <a:endParaRPr sz="1000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05432" y="857250"/>
            <a:ext cx="5486262" cy="60007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7372165" y="1600200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7600759" y="1581864"/>
            <a:ext cx="1971950" cy="436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47A1"/>
                </a:solidFill>
                <a:latin typeface="Noto Sans"/>
              </a:rPr>
              <a:t>Ограничения</a:t>
            </a:r>
            <a:endParaRPr sz="20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72165" y="2228850"/>
            <a:ext cx="4152796" cy="1876424"/>
          </a:xfrm>
          <a:prstGeom prst="roundRect">
            <a:avLst>
              <a:gd name="adj" fmla="val 16243"/>
            </a:avLst>
          </a:prstGeom>
          <a:solidFill>
            <a:srgbClr val="FFFFFF"/>
          </a:solidFill>
          <a:ln w="330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00759" y="2540976"/>
            <a:ext cx="304792" cy="2139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19849" y="2473144"/>
            <a:ext cx="2040880" cy="3591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D47A1"/>
                </a:solidFill>
                <a:latin typeface="Noto Sans"/>
              </a:rPr>
              <a:t>Точность</a:t>
            </a:r>
            <a:r>
              <a:rPr sz="14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400" b="1" dirty="0" err="1">
                <a:solidFill>
                  <a:srgbClr val="0D47A1"/>
                </a:solidFill>
                <a:latin typeface="Noto Sans"/>
              </a:rPr>
              <a:t>прогнозов</a:t>
            </a:r>
            <a:endParaRPr sz="14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00759" y="2933218"/>
            <a:ext cx="622222" cy="57246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348" b="1" dirty="0">
                <a:solidFill>
                  <a:srgbClr val="4FC3F7"/>
                </a:solidFill>
                <a:latin typeface="Noto Sans"/>
              </a:rPr>
              <a:t>90</a:t>
            </a:r>
            <a:endParaRPr sz="3348" b="1" dirty="0">
              <a:solidFill>
                <a:srgbClr val="4FC3F7"/>
              </a:solidFill>
              <a:latin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29195" y="3006896"/>
            <a:ext cx="427152" cy="46320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374151"/>
                </a:solidFill>
                <a:latin typeface="Noto Sans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0759" y="3638550"/>
            <a:ext cx="369560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Средняя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точность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на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тестовых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данных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72165" y="4286250"/>
            <a:ext cx="4152796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1" y="4474508"/>
            <a:ext cx="190495" cy="15688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9354" y="4438649"/>
            <a:ext cx="34670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374151"/>
                </a:solidFill>
                <a:latin typeface="Noto Sans"/>
              </a:rPr>
              <a:t>Результаты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носят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рекомендательный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характер</a:t>
            </a:r>
            <a:endParaRPr sz="956" b="0" dirty="0">
              <a:solidFill>
                <a:srgbClr val="374151"/>
              </a:solidFill>
              <a:latin typeface="Noto San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372165" y="4933950"/>
            <a:ext cx="4152796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1" y="5122208"/>
            <a:ext cx="190495" cy="15688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29354" y="5086350"/>
            <a:ext cx="248596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374151"/>
                </a:solidFill>
                <a:latin typeface="Noto Sans"/>
              </a:rPr>
              <a:t>Не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заменяет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консультацию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врача</a:t>
            </a:r>
            <a:endParaRPr sz="956" b="0" dirty="0">
              <a:solidFill>
                <a:srgbClr val="374151"/>
              </a:solidFill>
              <a:latin typeface="Noto San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372165" y="5581649"/>
            <a:ext cx="4152796" cy="5333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561" y="5769908"/>
            <a:ext cx="190495" cy="15688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354" y="5702124"/>
            <a:ext cx="2701317" cy="2924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0" noProof="1">
                <a:solidFill>
                  <a:srgbClr val="374151"/>
                </a:solidFill>
                <a:latin typeface="Noto Sans"/>
              </a:rPr>
              <a:t>Зависимость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от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качества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входных</a:t>
            </a:r>
            <a:r>
              <a:rPr sz="95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374151"/>
                </a:solidFill>
                <a:latin typeface="Noto Sans"/>
              </a:rPr>
              <a:t>данных</a:t>
            </a:r>
            <a:endParaRPr sz="956" b="0" dirty="0">
              <a:solidFill>
                <a:srgbClr val="374151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8726"/>
            <a:ext cx="380990" cy="279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119" y="142875"/>
            <a:ext cx="551483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 err="1">
                <a:solidFill>
                  <a:srgbClr val="FFFFFF"/>
                </a:solidFill>
                <a:latin typeface="Noto Sans"/>
              </a:rPr>
              <a:t>Заключение</a:t>
            </a:r>
            <a:r>
              <a:rPr sz="2392" b="1" dirty="0">
                <a:solidFill>
                  <a:srgbClr val="FFFFFF"/>
                </a:solidFill>
                <a:latin typeface="Noto Sans"/>
              </a:rPr>
              <a:t> и </a:t>
            </a:r>
            <a:r>
              <a:rPr sz="2392" b="1" dirty="0" err="1">
                <a:solidFill>
                  <a:srgbClr val="FFFFFF"/>
                </a:solidFill>
                <a:latin typeface="Noto Sans"/>
              </a:rPr>
              <a:t>перспективы</a:t>
            </a:r>
            <a:endParaRPr sz="2392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95436" y="857250"/>
            <a:ext cx="5996257" cy="60007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594878" y="1322270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3472" y="1312746"/>
            <a:ext cx="320984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 err="1">
                <a:solidFill>
                  <a:srgbClr val="0D47A1"/>
                </a:solidFill>
                <a:latin typeface="Noto Sans"/>
              </a:rPr>
              <a:t>Перспективы</a:t>
            </a:r>
            <a:r>
              <a:rPr sz="1674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674" b="1" dirty="0" err="1">
                <a:solidFill>
                  <a:srgbClr val="0D47A1"/>
                </a:solidFill>
                <a:latin typeface="Noto Sans"/>
              </a:rPr>
              <a:t>развития</a:t>
            </a:r>
            <a:endParaRPr sz="1674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878" y="2017595"/>
            <a:ext cx="2590735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330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472" y="2425200"/>
            <a:ext cx="342891" cy="289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661" y="2398589"/>
            <a:ext cx="1774781" cy="342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0D47A1"/>
                </a:solidFill>
                <a:latin typeface="Noto Sans"/>
              </a:rPr>
              <a:t>Новые</a:t>
            </a:r>
            <a:r>
              <a:rPr sz="1200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200" b="1" dirty="0" err="1">
                <a:solidFill>
                  <a:srgbClr val="0D47A1"/>
                </a:solidFill>
                <a:latin typeface="Noto Sans"/>
              </a:rPr>
              <a:t>заболевания</a:t>
            </a:r>
            <a:endParaRPr sz="1200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3472" y="2970096"/>
            <a:ext cx="213354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Расширение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списка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анализируемых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болезней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76108" y="2017595"/>
            <a:ext cx="2590735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4702" y="2437024"/>
            <a:ext cx="342891" cy="2660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47593" y="2398653"/>
            <a:ext cx="1928342" cy="342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 err="1">
                <a:solidFill>
                  <a:srgbClr val="0D47A1"/>
                </a:solidFill>
                <a:latin typeface="Noto Sans"/>
              </a:rPr>
              <a:t>Машинное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0D47A1"/>
                </a:solidFill>
                <a:latin typeface="Noto Sans"/>
              </a:rPr>
              <a:t>обучение</a:t>
            </a:r>
            <a:endParaRPr sz="1196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4702" y="2970096"/>
            <a:ext cx="213354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Повышение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точности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с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помощью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ML-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алгоритмов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878" y="3846395"/>
            <a:ext cx="2590735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472" y="4239220"/>
            <a:ext cx="342891" cy="3192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661" y="4113096"/>
            <a:ext cx="167635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 err="1">
                <a:solidFill>
                  <a:srgbClr val="0D47A1"/>
                </a:solidFill>
                <a:latin typeface="Noto Sans"/>
              </a:rPr>
              <a:t>Мобильная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0D47A1"/>
                </a:solidFill>
                <a:latin typeface="Noto Sans"/>
              </a:rPr>
              <a:t>версия</a:t>
            </a:r>
            <a:endParaRPr sz="1196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3472" y="4798896"/>
            <a:ext cx="213354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Адаптация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приложения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для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смартфонов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76108" y="3846395"/>
            <a:ext cx="2590735" cy="1638299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3302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702" y="4138222"/>
            <a:ext cx="342891" cy="2926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061891" y="4141671"/>
            <a:ext cx="154301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 err="1">
                <a:solidFill>
                  <a:srgbClr val="0D47A1"/>
                </a:solidFill>
                <a:latin typeface="Noto Sans"/>
              </a:rPr>
              <a:t>Интеграция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4702" y="4570296"/>
            <a:ext cx="213354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 err="1">
                <a:solidFill>
                  <a:srgbClr val="4B5563"/>
                </a:solidFill>
                <a:latin typeface="Noto Sans"/>
              </a:rPr>
              <a:t>Подключение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к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медицинским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базам</a:t>
            </a:r>
            <a:r>
              <a:rPr sz="956" b="0" dirty="0">
                <a:solidFill>
                  <a:srgbClr val="4B5563"/>
                </a:solidFill>
                <a:latin typeface="Noto Sans"/>
              </a:rPr>
              <a:t> </a:t>
            </a:r>
            <a:r>
              <a:rPr sz="956" b="0" dirty="0" err="1">
                <a:solidFill>
                  <a:srgbClr val="4B5563"/>
                </a:solidFill>
                <a:latin typeface="Noto Sans"/>
              </a:rPr>
              <a:t>данных</a:t>
            </a:r>
            <a:endParaRPr sz="956" b="0" dirty="0">
              <a:solidFill>
                <a:srgbClr val="4B5563"/>
              </a:solidFill>
              <a:latin typeface="Noto Sans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878" y="5907605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7769" y="5812895"/>
            <a:ext cx="5029074" cy="31515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76" b="0" dirty="0">
                <a:solidFill>
                  <a:srgbClr val="374151"/>
                </a:solidFill>
                <a:latin typeface="Noto Sans"/>
              </a:rPr>
              <a:t>Непрерывное</a:t>
            </a:r>
            <a:r>
              <a:rPr sz="107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374151"/>
                </a:solidFill>
                <a:latin typeface="Noto Sans"/>
              </a:rPr>
              <a:t>развитие</a:t>
            </a:r>
            <a:r>
              <a:rPr sz="107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374151"/>
                </a:solidFill>
                <a:latin typeface="Noto Sans"/>
              </a:rPr>
              <a:t>для</a:t>
            </a:r>
            <a:r>
              <a:rPr sz="107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374151"/>
                </a:solidFill>
                <a:latin typeface="Noto Sans"/>
              </a:rPr>
              <a:t>повышения</a:t>
            </a:r>
            <a:r>
              <a:rPr sz="107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374151"/>
                </a:solidFill>
                <a:latin typeface="Noto Sans"/>
              </a:rPr>
              <a:t>качества</a:t>
            </a:r>
            <a:r>
              <a:rPr sz="1076" b="0" dirty="0">
                <a:solidFill>
                  <a:srgbClr val="374151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374151"/>
                </a:solidFill>
                <a:latin typeface="Noto Sans"/>
              </a:rPr>
              <a:t>прогнозов</a:t>
            </a:r>
            <a:endParaRPr sz="1076" b="0" dirty="0">
              <a:solidFill>
                <a:srgbClr val="374151"/>
              </a:solidFill>
              <a:latin typeface="Noto Sans"/>
            </a:endParaRP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DB9091FE-F925-F8CA-ABEE-C07CE7DD6521}"/>
              </a:ext>
            </a:extLst>
          </p:cNvPr>
          <p:cNvSpPr/>
          <p:nvPr/>
        </p:nvSpPr>
        <p:spPr>
          <a:xfrm>
            <a:off x="6957416" y="1321429"/>
            <a:ext cx="76198" cy="38099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598196-A342-D469-9307-A64F6718D18F}"/>
              </a:ext>
            </a:extLst>
          </p:cNvPr>
          <p:cNvSpPr txBox="1"/>
          <p:nvPr/>
        </p:nvSpPr>
        <p:spPr>
          <a:xfrm>
            <a:off x="7186010" y="1311904"/>
            <a:ext cx="200972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 err="1">
                <a:solidFill>
                  <a:srgbClr val="0D47A1"/>
                </a:solidFill>
                <a:latin typeface="Noto Sans"/>
              </a:rPr>
              <a:t>Итоги</a:t>
            </a:r>
            <a:r>
              <a:rPr sz="1674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674" b="1" dirty="0" err="1">
                <a:solidFill>
                  <a:srgbClr val="0D47A1"/>
                </a:solidFill>
                <a:latin typeface="Noto Sans"/>
              </a:rPr>
              <a:t>проекта</a:t>
            </a:r>
            <a:endParaRPr sz="1674" b="1" dirty="0">
              <a:solidFill>
                <a:srgbClr val="0D47A1"/>
              </a:solidFill>
              <a:latin typeface="Noto Sans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BDED7DF1-5BDF-1B8B-33A4-2904E1E508C1}"/>
              </a:ext>
            </a:extLst>
          </p:cNvPr>
          <p:cNvSpPr/>
          <p:nvPr/>
        </p:nvSpPr>
        <p:spPr>
          <a:xfrm>
            <a:off x="6957416" y="2016754"/>
            <a:ext cx="4152796" cy="28956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4FC3F7"/>
              </a:gs>
              <a:gs pos="100000">
                <a:srgbClr val="0D47A1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9" name="Picture 7" descr="image.png">
            <a:extLst>
              <a:ext uri="{FF2B5EF4-FFF2-40B4-BE49-F238E27FC236}">
                <a16:creationId xmlns:a16="http://schemas.microsoft.com/office/drawing/2014/main" id="{9F782914-B5A5-A4FE-DF6E-2F581A547D8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2208" y="2491500"/>
            <a:ext cx="457188" cy="40305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288B25A-A05C-1568-74A9-28D12B22A9A3}"/>
              </a:ext>
            </a:extLst>
          </p:cNvPr>
          <p:cNvSpPr txBox="1"/>
          <p:nvPr/>
        </p:nvSpPr>
        <p:spPr>
          <a:xfrm>
            <a:off x="7871793" y="2321554"/>
            <a:ext cx="2933626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 err="1">
                <a:solidFill>
                  <a:srgbClr val="FFFFFF"/>
                </a:solidFill>
                <a:latin typeface="Noto Sans"/>
              </a:rPr>
              <a:t>Проект</a:t>
            </a:r>
            <a:r>
              <a:rPr sz="1554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1554" b="1" dirty="0" err="1">
                <a:solidFill>
                  <a:srgbClr val="FFFFFF"/>
                </a:solidFill>
                <a:latin typeface="Noto Sans"/>
              </a:rPr>
              <a:t>реализован</a:t>
            </a:r>
            <a:r>
              <a:rPr sz="1554" b="1" dirty="0">
                <a:solidFill>
                  <a:srgbClr val="FFFFFF"/>
                </a:solidFill>
                <a:latin typeface="Noto Sans"/>
              </a:rPr>
              <a:t> </a:t>
            </a:r>
            <a:r>
              <a:rPr sz="1554" b="1" dirty="0" err="1">
                <a:solidFill>
                  <a:srgbClr val="FFFFFF"/>
                </a:solidFill>
                <a:latin typeface="Noto Sans"/>
              </a:rPr>
              <a:t>успешно</a:t>
            </a:r>
            <a:endParaRPr sz="1554" b="1" dirty="0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725BD4-BBE3-2674-B765-3F4985787C27}"/>
              </a:ext>
            </a:extLst>
          </p:cNvPr>
          <p:cNvSpPr txBox="1"/>
          <p:nvPr/>
        </p:nvSpPr>
        <p:spPr>
          <a:xfrm>
            <a:off x="7262208" y="3216904"/>
            <a:ext cx="3543211" cy="1390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 err="1">
                <a:solidFill>
                  <a:srgbClr val="FFFFFF"/>
                </a:solidFill>
                <a:latin typeface="Noto Sans"/>
              </a:rPr>
              <a:t>Все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поставленные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цели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достигнуты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.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Веб-приложение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корректно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рассчитывает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вероятность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заболеваний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и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предоставляет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удобный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интерфейс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для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 </a:t>
            </a:r>
            <a:r>
              <a:rPr sz="1076" b="0" dirty="0" err="1">
                <a:solidFill>
                  <a:srgbClr val="FFFFFF"/>
                </a:solidFill>
                <a:latin typeface="Noto Sans"/>
              </a:rPr>
              <a:t>пользователей</a:t>
            </a:r>
            <a:r>
              <a:rPr sz="1076" b="0" dirty="0">
                <a:solidFill>
                  <a:srgbClr val="FFFFFF"/>
                </a:solidFill>
                <a:latin typeface="Noto Sans"/>
              </a:rPr>
              <a:t>.</a:t>
            </a:r>
          </a:p>
        </p:txBody>
      </p:sp>
      <p:sp>
        <p:nvSpPr>
          <p:cNvPr id="42" name="Rounded Rectangle 10">
            <a:extLst>
              <a:ext uri="{FF2B5EF4-FFF2-40B4-BE49-F238E27FC236}">
                <a16:creationId xmlns:a16="http://schemas.microsoft.com/office/drawing/2014/main" id="{CB34F6BC-58B1-4398-0264-A636E7422A71}"/>
              </a:ext>
            </a:extLst>
          </p:cNvPr>
          <p:cNvSpPr/>
          <p:nvPr/>
        </p:nvSpPr>
        <p:spPr>
          <a:xfrm>
            <a:off x="6957416" y="5140954"/>
            <a:ext cx="4152796" cy="761999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ound Same Side Corner Rectangle 11">
            <a:extLst>
              <a:ext uri="{FF2B5EF4-FFF2-40B4-BE49-F238E27FC236}">
                <a16:creationId xmlns:a16="http://schemas.microsoft.com/office/drawing/2014/main" id="{0E8B7D55-D0EF-3A20-3465-C0DA36F993E3}"/>
              </a:ext>
            </a:extLst>
          </p:cNvPr>
          <p:cNvSpPr/>
          <p:nvPr/>
        </p:nvSpPr>
        <p:spPr>
          <a:xfrm rot="16200000">
            <a:off x="6642457" y="545591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4" name="Picture 12" descr="image.png">
            <a:extLst>
              <a:ext uri="{FF2B5EF4-FFF2-40B4-BE49-F238E27FC236}">
                <a16:creationId xmlns:a16="http://schemas.microsoft.com/office/drawing/2014/main" id="{23A87435-6EAC-1810-DE8C-A361145F500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24109" y="5401792"/>
            <a:ext cx="304792" cy="24032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EBDF3D3-7634-38F3-7B28-D81F7D42F00E}"/>
              </a:ext>
            </a:extLst>
          </p:cNvPr>
          <p:cNvSpPr txBox="1"/>
          <p:nvPr/>
        </p:nvSpPr>
        <p:spPr>
          <a:xfrm>
            <a:off x="7681298" y="5379079"/>
            <a:ext cx="219069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 err="1">
                <a:solidFill>
                  <a:srgbClr val="0D47A1"/>
                </a:solidFill>
                <a:latin typeface="Noto Sans"/>
              </a:rPr>
              <a:t>Спасибо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0D47A1"/>
                </a:solidFill>
                <a:latin typeface="Noto Sans"/>
              </a:rPr>
              <a:t>за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 </a:t>
            </a:r>
            <a:r>
              <a:rPr sz="1196" b="1" dirty="0" err="1">
                <a:solidFill>
                  <a:srgbClr val="0D47A1"/>
                </a:solidFill>
                <a:latin typeface="Noto Sans"/>
              </a:rPr>
              <a:t>внимание</a:t>
            </a:r>
            <a:r>
              <a:rPr sz="1196" b="1" dirty="0">
                <a:solidFill>
                  <a:srgbClr val="0D47A1"/>
                </a:solidFill>
                <a:latin typeface="Noto Sans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309</Words>
  <Application>Microsoft Office PowerPoint</Application>
  <PresentationFormat>Широкоэкранный</PresentationFormat>
  <Paragraphs>107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Timur</cp:lastModifiedBy>
  <cp:revision>8</cp:revision>
  <dcterms:created xsi:type="dcterms:W3CDTF">2013-01-27T09:14:16Z</dcterms:created>
  <dcterms:modified xsi:type="dcterms:W3CDTF">2026-05-25T12:31:06Z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{"Label":"1","ContentProducer":"001191110108MA01KP2T5U00000","ProduceID":"2ce14a3aa5710fa22dfabec23315baf0","ReservedCode1":"","ContentPropagator":"001191110108MA01KP2T5U00000","PropagateID":"2ce14a3aa5710fa22dfabec23315baf0","ReservedCode2":""}</vt:lpwstr>
  </property>
</Properties>
</file>