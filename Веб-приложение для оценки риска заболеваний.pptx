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7" d="100"/>
          <a:sy n="107" d="100"/>
        </p:scale>
        <p:origin x="714" y="1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11" Type="http://schemas.openxmlformats.org/officeDocument/2006/relationships/image" Target="../media/image24.jpg"/><Relationship Id="rId5" Type="http://schemas.openxmlformats.org/officeDocument/2006/relationships/image" Target="../media/image18.png"/><Relationship Id="rId10" Type="http://schemas.openxmlformats.org/officeDocument/2006/relationships/image" Target="../media/image23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9.jp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7" Type="http://schemas.openxmlformats.org/officeDocument/2006/relationships/image" Target="../media/image42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7" Type="http://schemas.openxmlformats.org/officeDocument/2006/relationships/image" Target="../media/image48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3" Type="http://schemas.openxmlformats.org/officeDocument/2006/relationships/image" Target="../media/image49.png"/><Relationship Id="rId7" Type="http://schemas.openxmlformats.org/officeDocument/2006/relationships/image" Target="../media/image5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50.png"/><Relationship Id="rId9" Type="http://schemas.openxmlformats.org/officeDocument/2006/relationships/image" Target="../media/image5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-1" y="-2"/>
            <a:ext cx="12191695" cy="6858000"/>
          </a:xfrm>
          <a:prstGeom prst="rect">
            <a:avLst/>
          </a:prstGeom>
          <a:gradFill rotWithShape="1">
            <a:gsLst>
              <a:gs pos="0">
                <a:srgbClr val="0D47A1">
                  <a:alpha val="92000"/>
                </a:srgbClr>
              </a:gs>
              <a:gs pos="100000">
                <a:srgbClr val="01579B">
                  <a:alpha val="88000"/>
                </a:srgbClr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666733" y="782193"/>
            <a:ext cx="609584" cy="51206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6733" y="1925971"/>
            <a:ext cx="7548798" cy="162493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5005"/>
              </a:lnSpc>
              <a:spcBef>
                <a:spcPts val="0"/>
              </a:spcBef>
              <a:spcAft>
                <a:spcPts val="2080"/>
              </a:spcAft>
            </a:pPr>
            <a:r>
              <a:rPr lang="en-US" sz="3707" b="1" noProof="1">
                <a:solidFill>
                  <a:srgbClr val="FFFFFF"/>
                </a:solidFill>
                <a:latin typeface="Noto Sans"/>
              </a:rPr>
              <a:t> Веб-приложение</a:t>
            </a:r>
            <a:r>
              <a:rPr lang="en-US" sz="1104" noProof="1"/>
              <a:t>
</a:t>
            </a:r>
            <a:r>
              <a:rPr lang="en-US" sz="3707" b="1" noProof="1">
                <a:solidFill>
                  <a:srgbClr val="FFFFFF"/>
                </a:solidFill>
                <a:latin typeface="Noto Sans"/>
              </a:rPr>
              <a:t> </a:t>
            </a:r>
            <a:r>
              <a:rPr lang="en-US" sz="3348" b="1" noProof="1">
                <a:solidFill>
                  <a:srgbClr val="FFFFFF"/>
                </a:solidFill>
                <a:latin typeface="Noto Sans"/>
              </a:rPr>
              <a:t>для оценки риска заболеваний</a:t>
            </a:r>
            <a:r>
              <a:rPr lang="en-US" sz="3707" b="1" noProof="1">
                <a:solidFill>
                  <a:srgbClr val="FFFFFF"/>
                </a:solidFill>
                <a:latin typeface="Noto Sans"/>
              </a:rPr>
              <a:t> 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6733" y="5902642"/>
            <a:ext cx="228594" cy="1771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09624" y="5833649"/>
            <a:ext cx="3393814" cy="31515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076" dirty="0">
                <a:solidFill>
                  <a:srgbClr val="E5E7EB"/>
                </a:solidFill>
                <a:latin typeface="Noto Sans"/>
              </a:rPr>
              <a:t>Ингушский государственный университет </a:t>
            </a:r>
            <a:r>
              <a:rPr sz="1076" b="0" dirty="0">
                <a:solidFill>
                  <a:srgbClr val="E5E7EB"/>
                </a:solidFill>
                <a:latin typeface="Noto Sans"/>
              </a:rPr>
              <a:t>2026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24681" y="923924"/>
            <a:ext cx="2800279" cy="819149"/>
          </a:xfrm>
          <a:prstGeom prst="roundRect">
            <a:avLst>
              <a:gd name="adj" fmla="val 27906"/>
            </a:avLst>
          </a:prstGeom>
          <a:solidFill>
            <a:srgbClr val="FFFFFF">
              <a:alpha val="10000"/>
            </a:srgbClr>
          </a:solidFill>
          <a:ln w="825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924701" y="1243488"/>
            <a:ext cx="228594" cy="18002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267593" y="1123949"/>
            <a:ext cx="1609684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 dirty="0" err="1">
                <a:solidFill>
                  <a:srgbClr val="FFFFFF"/>
                </a:solidFill>
                <a:latin typeface="Noto Sans"/>
              </a:rPr>
              <a:t>Сердечно-сосудистые</a:t>
            </a:r>
            <a:endParaRPr sz="956" b="0" dirty="0">
              <a:solidFill>
                <a:srgbClr val="FFFFFF"/>
              </a:solidFill>
              <a:latin typeface="Noto San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9267593" y="1352549"/>
            <a:ext cx="1609684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37" b="0" dirty="0" err="1">
                <a:solidFill>
                  <a:srgbClr val="D1D5DB"/>
                </a:solidFill>
                <a:latin typeface="Noto Sans"/>
              </a:rPr>
              <a:t>заболевания</a:t>
            </a:r>
            <a:endParaRPr sz="837" b="0" dirty="0">
              <a:solidFill>
                <a:srgbClr val="D1D5DB"/>
              </a:solidFill>
              <a:latin typeface="Noto Sans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8724681" y="1971675"/>
            <a:ext cx="2800279" cy="819149"/>
          </a:xfrm>
          <a:prstGeom prst="roundRect">
            <a:avLst>
              <a:gd name="adj" fmla="val 27906"/>
            </a:avLst>
          </a:prstGeom>
          <a:solidFill>
            <a:srgbClr val="FFFFFF">
              <a:alpha val="10000"/>
            </a:srgbClr>
          </a:solidFill>
          <a:ln w="825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924701" y="2295525"/>
            <a:ext cx="228594" cy="17145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267593" y="2171700"/>
            <a:ext cx="790555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 dirty="0" err="1">
                <a:solidFill>
                  <a:srgbClr val="FFFFFF"/>
                </a:solidFill>
                <a:latin typeface="Noto Sans"/>
              </a:rPr>
              <a:t>Рак</a:t>
            </a:r>
            <a:r>
              <a:rPr sz="956" b="0" dirty="0">
                <a:solidFill>
                  <a:srgbClr val="FFFFFF"/>
                </a:solidFill>
                <a:latin typeface="Noto Sans"/>
              </a:rPr>
              <a:t> </a:t>
            </a:r>
            <a:r>
              <a:rPr sz="956" b="0" dirty="0" err="1">
                <a:solidFill>
                  <a:srgbClr val="FFFFFF"/>
                </a:solidFill>
                <a:latin typeface="Noto Sans"/>
              </a:rPr>
              <a:t>лёгких</a:t>
            </a:r>
            <a:endParaRPr sz="956" b="0" dirty="0">
              <a:solidFill>
                <a:srgbClr val="FFFFFF"/>
              </a:solidFill>
              <a:latin typeface="Noto San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9267593" y="2400300"/>
            <a:ext cx="790555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37" b="0" dirty="0" err="1">
                <a:solidFill>
                  <a:srgbClr val="D1D5DB"/>
                </a:solidFill>
                <a:latin typeface="Noto Sans"/>
              </a:rPr>
              <a:t>онкология</a:t>
            </a:r>
            <a:endParaRPr sz="837" b="0" dirty="0">
              <a:solidFill>
                <a:srgbClr val="D1D5DB"/>
              </a:solidFill>
              <a:latin typeface="Noto Sans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8724681" y="3019424"/>
            <a:ext cx="2800279" cy="819149"/>
          </a:xfrm>
          <a:prstGeom prst="roundRect">
            <a:avLst>
              <a:gd name="adj" fmla="val 27906"/>
            </a:avLst>
          </a:prstGeom>
          <a:solidFill>
            <a:srgbClr val="FFFFFF">
              <a:alpha val="10000"/>
            </a:srgbClr>
          </a:solidFill>
          <a:ln w="825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8924701" y="3346132"/>
            <a:ext cx="228594" cy="16573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267593" y="3219449"/>
            <a:ext cx="1057248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 dirty="0" err="1">
                <a:solidFill>
                  <a:srgbClr val="FFFFFF"/>
                </a:solidFill>
                <a:latin typeface="Noto Sans"/>
              </a:rPr>
              <a:t>Артериальная</a:t>
            </a:r>
            <a:endParaRPr sz="956" b="0" dirty="0">
              <a:solidFill>
                <a:srgbClr val="FFFFFF"/>
              </a:solidFill>
              <a:latin typeface="Noto San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9267593" y="3448049"/>
            <a:ext cx="1057248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37" b="0" dirty="0" err="1">
                <a:solidFill>
                  <a:srgbClr val="D1D5DB"/>
                </a:solidFill>
                <a:latin typeface="Noto Sans"/>
              </a:rPr>
              <a:t>гипертензия</a:t>
            </a:r>
            <a:endParaRPr sz="837" b="0" dirty="0">
              <a:solidFill>
                <a:srgbClr val="D1D5DB"/>
              </a:solidFill>
              <a:latin typeface="Noto Sans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8724681" y="4067174"/>
            <a:ext cx="2800279" cy="819149"/>
          </a:xfrm>
          <a:prstGeom prst="roundRect">
            <a:avLst>
              <a:gd name="adj" fmla="val 27906"/>
            </a:avLst>
          </a:prstGeom>
          <a:solidFill>
            <a:srgbClr val="FFFFFF">
              <a:alpha val="10000"/>
            </a:srgbClr>
          </a:solidFill>
          <a:ln w="825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8924701" y="4388167"/>
            <a:ext cx="228594" cy="17716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267593" y="4267199"/>
            <a:ext cx="800079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 dirty="0" err="1">
                <a:solidFill>
                  <a:srgbClr val="FFFFFF"/>
                </a:solidFill>
                <a:latin typeface="Noto Sans"/>
              </a:rPr>
              <a:t>Ожирение</a:t>
            </a:r>
            <a:endParaRPr sz="956" b="0" dirty="0">
              <a:solidFill>
                <a:srgbClr val="FFFFFF"/>
              </a:solidFill>
              <a:latin typeface="Noto San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9267593" y="4495799"/>
            <a:ext cx="800079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37" b="0" dirty="0" err="1">
                <a:solidFill>
                  <a:srgbClr val="D1D5DB"/>
                </a:solidFill>
                <a:latin typeface="Noto Sans"/>
              </a:rPr>
              <a:t>метаболизм</a:t>
            </a:r>
            <a:endParaRPr sz="837" b="0" dirty="0">
              <a:solidFill>
                <a:srgbClr val="D1D5DB"/>
              </a:solidFill>
              <a:latin typeface="Noto Sans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8724681" y="5114925"/>
            <a:ext cx="2800279" cy="819149"/>
          </a:xfrm>
          <a:prstGeom prst="roundRect">
            <a:avLst>
              <a:gd name="adj" fmla="val 27906"/>
            </a:avLst>
          </a:prstGeom>
          <a:solidFill>
            <a:srgbClr val="FFFFFF">
              <a:alpha val="10000"/>
            </a:srgbClr>
          </a:solidFill>
          <a:ln w="825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8924701" y="5427344"/>
            <a:ext cx="228594" cy="194309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267593" y="5314950"/>
            <a:ext cx="1609684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 dirty="0" err="1">
                <a:solidFill>
                  <a:srgbClr val="FFFFFF"/>
                </a:solidFill>
                <a:latin typeface="Noto Sans"/>
              </a:rPr>
              <a:t>Хроническая</a:t>
            </a:r>
            <a:r>
              <a:rPr sz="956" b="0" dirty="0">
                <a:solidFill>
                  <a:srgbClr val="FFFFFF"/>
                </a:solidFill>
                <a:latin typeface="Noto Sans"/>
              </a:rPr>
              <a:t> </a:t>
            </a:r>
            <a:r>
              <a:rPr sz="956" b="0" dirty="0" err="1">
                <a:solidFill>
                  <a:srgbClr val="FFFFFF"/>
                </a:solidFill>
                <a:latin typeface="Noto Sans"/>
              </a:rPr>
              <a:t>болезнь</a:t>
            </a:r>
            <a:endParaRPr sz="956" b="0" dirty="0">
              <a:solidFill>
                <a:srgbClr val="FFFFFF"/>
              </a:solidFill>
              <a:latin typeface="Noto San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9267593" y="5543550"/>
            <a:ext cx="1609684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37" b="0" dirty="0" err="1">
                <a:solidFill>
                  <a:srgbClr val="D1D5DB"/>
                </a:solidFill>
                <a:latin typeface="Noto Sans"/>
              </a:rPr>
              <a:t>почек</a:t>
            </a:r>
            <a:r>
              <a:rPr sz="837" b="0" dirty="0">
                <a:solidFill>
                  <a:srgbClr val="D1D5DB"/>
                </a:solidFill>
                <a:latin typeface="Noto Sans"/>
              </a:rPr>
              <a:t> (ХБП)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334266" y="-952499"/>
            <a:ext cx="3333666" cy="3333749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2" name="Rounded Rectangle 31"/>
          <p:cNvSpPr/>
          <p:nvPr/>
        </p:nvSpPr>
        <p:spPr>
          <a:xfrm>
            <a:off x="-476239" y="4770927"/>
            <a:ext cx="2381190" cy="238125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5725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666733" y="288726"/>
            <a:ext cx="380990" cy="2797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00119" y="142875"/>
            <a:ext cx="5819629" cy="5715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2392" b="1" dirty="0" err="1">
                <a:solidFill>
                  <a:srgbClr val="FFFFFF"/>
                </a:solidFill>
                <a:latin typeface="Noto Sans"/>
              </a:rPr>
              <a:t>Актуальность</a:t>
            </a:r>
            <a:r>
              <a:rPr sz="2392" b="1" dirty="0">
                <a:solidFill>
                  <a:srgbClr val="FFFFFF"/>
                </a:solidFill>
                <a:latin typeface="Noto Sans"/>
              </a:rPr>
              <a:t> и </a:t>
            </a:r>
            <a:r>
              <a:rPr sz="2392" b="1" dirty="0" err="1">
                <a:solidFill>
                  <a:srgbClr val="FFFFFF"/>
                </a:solidFill>
                <a:latin typeface="Noto Sans"/>
              </a:rPr>
              <a:t>цели</a:t>
            </a:r>
            <a:r>
              <a:rPr sz="2392" b="1" dirty="0">
                <a:solidFill>
                  <a:srgbClr val="FFFFFF"/>
                </a:solidFill>
                <a:latin typeface="Noto Sans"/>
              </a:rPr>
              <a:t> </a:t>
            </a:r>
            <a:r>
              <a:rPr sz="2392" b="1" dirty="0" err="1">
                <a:solidFill>
                  <a:srgbClr val="FFFFFF"/>
                </a:solidFill>
                <a:latin typeface="Noto Sans"/>
              </a:rPr>
              <a:t>проекта</a:t>
            </a:r>
            <a:endParaRPr sz="2392" b="1" dirty="0">
              <a:solidFill>
                <a:srgbClr val="FFFFFF"/>
              </a:solidFill>
              <a:latin typeface="Noto Sans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66733" y="2247899"/>
            <a:ext cx="76198" cy="457200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895327" y="2247899"/>
            <a:ext cx="1609684" cy="4572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1913" b="1" dirty="0" err="1">
                <a:solidFill>
                  <a:srgbClr val="0D47A1"/>
                </a:solidFill>
                <a:latin typeface="Noto Sans"/>
              </a:rPr>
              <a:t>Проблема</a:t>
            </a:r>
            <a:endParaRPr sz="1913" b="1" dirty="0">
              <a:solidFill>
                <a:srgbClr val="0D47A1"/>
              </a:solidFill>
              <a:latin typeface="Noto Sans"/>
            </a:endParaRP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6733" y="2992092"/>
            <a:ext cx="266693" cy="2261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85822" y="2933699"/>
            <a:ext cx="4343291" cy="619124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196" b="0" dirty="0" err="1">
                <a:solidFill>
                  <a:srgbClr val="374151"/>
                </a:solidFill>
                <a:latin typeface="Noto Sans"/>
              </a:rPr>
              <a:t>Поздняя</a:t>
            </a:r>
            <a:r>
              <a:rPr sz="1196" b="0" dirty="0">
                <a:solidFill>
                  <a:srgbClr val="374151"/>
                </a:solidFill>
                <a:latin typeface="Noto Sans"/>
              </a:rPr>
              <a:t> </a:t>
            </a:r>
            <a:r>
              <a:rPr sz="1196" b="0" dirty="0" err="1">
                <a:solidFill>
                  <a:srgbClr val="374151"/>
                </a:solidFill>
                <a:latin typeface="Noto Sans"/>
              </a:rPr>
              <a:t>диагностика</a:t>
            </a:r>
            <a:r>
              <a:rPr sz="1196" b="0" dirty="0">
                <a:solidFill>
                  <a:srgbClr val="374151"/>
                </a:solidFill>
                <a:latin typeface="Noto Sans"/>
              </a:rPr>
              <a:t> </a:t>
            </a:r>
            <a:r>
              <a:rPr sz="1196" b="0" dirty="0" err="1">
                <a:solidFill>
                  <a:srgbClr val="374151"/>
                </a:solidFill>
                <a:latin typeface="Noto Sans"/>
              </a:rPr>
              <a:t>заболеваний</a:t>
            </a:r>
            <a:r>
              <a:rPr sz="1196" b="0" dirty="0">
                <a:solidFill>
                  <a:srgbClr val="374151"/>
                </a:solidFill>
                <a:latin typeface="Noto Sans"/>
              </a:rPr>
              <a:t> </a:t>
            </a:r>
            <a:r>
              <a:rPr sz="1196" b="0" dirty="0" err="1">
                <a:solidFill>
                  <a:srgbClr val="374151"/>
                </a:solidFill>
                <a:latin typeface="Noto Sans"/>
              </a:rPr>
              <a:t>снижает</a:t>
            </a:r>
            <a:r>
              <a:rPr sz="1196" b="0" dirty="0">
                <a:solidFill>
                  <a:srgbClr val="374151"/>
                </a:solidFill>
                <a:latin typeface="Noto Sans"/>
              </a:rPr>
              <a:t> </a:t>
            </a:r>
            <a:r>
              <a:rPr sz="1196" b="0" dirty="0" err="1">
                <a:solidFill>
                  <a:srgbClr val="374151"/>
                </a:solidFill>
                <a:latin typeface="Noto Sans"/>
              </a:rPr>
              <a:t>эффективность</a:t>
            </a:r>
            <a:r>
              <a:rPr sz="1196" b="0" dirty="0">
                <a:solidFill>
                  <a:srgbClr val="374151"/>
                </a:solidFill>
                <a:latin typeface="Noto Sans"/>
              </a:rPr>
              <a:t> </a:t>
            </a:r>
            <a:r>
              <a:rPr sz="1196" b="0" dirty="0" err="1">
                <a:solidFill>
                  <a:srgbClr val="374151"/>
                </a:solidFill>
                <a:latin typeface="Noto Sans"/>
              </a:rPr>
              <a:t>лечения</a:t>
            </a:r>
            <a:endParaRPr sz="1196" b="0" dirty="0">
              <a:solidFill>
                <a:srgbClr val="374151"/>
              </a:solidFill>
              <a:latin typeface="Noto Sans"/>
            </a:endParaRP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66733" y="3821181"/>
            <a:ext cx="266693" cy="1681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85822" y="3733799"/>
            <a:ext cx="4343291" cy="619124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196" b="0" dirty="0" err="1">
                <a:solidFill>
                  <a:srgbClr val="374151"/>
                </a:solidFill>
                <a:latin typeface="Noto Sans"/>
              </a:rPr>
              <a:t>Недостаток</a:t>
            </a:r>
            <a:r>
              <a:rPr sz="1196" b="0" dirty="0">
                <a:solidFill>
                  <a:srgbClr val="374151"/>
                </a:solidFill>
                <a:latin typeface="Noto Sans"/>
              </a:rPr>
              <a:t> </a:t>
            </a:r>
            <a:r>
              <a:rPr sz="1196" b="0" dirty="0" err="1">
                <a:solidFill>
                  <a:srgbClr val="374151"/>
                </a:solidFill>
                <a:latin typeface="Noto Sans"/>
              </a:rPr>
              <a:t>осведомленности</a:t>
            </a:r>
            <a:r>
              <a:rPr sz="1196" b="0" dirty="0">
                <a:solidFill>
                  <a:srgbClr val="374151"/>
                </a:solidFill>
                <a:latin typeface="Noto Sans"/>
              </a:rPr>
              <a:t> о </a:t>
            </a:r>
            <a:r>
              <a:rPr sz="1196" b="0" dirty="0" err="1">
                <a:solidFill>
                  <a:srgbClr val="374151"/>
                </a:solidFill>
                <a:latin typeface="Noto Sans"/>
              </a:rPr>
              <a:t>факторах</a:t>
            </a:r>
            <a:r>
              <a:rPr sz="1196" b="0" dirty="0">
                <a:solidFill>
                  <a:srgbClr val="374151"/>
                </a:solidFill>
                <a:latin typeface="Noto Sans"/>
              </a:rPr>
              <a:t> </a:t>
            </a:r>
            <a:r>
              <a:rPr sz="1196" b="0" dirty="0" err="1">
                <a:solidFill>
                  <a:srgbClr val="374151"/>
                </a:solidFill>
                <a:latin typeface="Noto Sans"/>
              </a:rPr>
              <a:t>риска</a:t>
            </a:r>
            <a:r>
              <a:rPr sz="1196" b="0" dirty="0">
                <a:solidFill>
                  <a:srgbClr val="374151"/>
                </a:solidFill>
                <a:latin typeface="Noto Sans"/>
              </a:rPr>
              <a:t> </a:t>
            </a:r>
            <a:r>
              <a:rPr sz="1196" b="0" dirty="0" err="1">
                <a:solidFill>
                  <a:srgbClr val="374151"/>
                </a:solidFill>
                <a:latin typeface="Noto Sans"/>
              </a:rPr>
              <a:t>среди</a:t>
            </a:r>
            <a:r>
              <a:rPr sz="1196" b="0" dirty="0">
                <a:solidFill>
                  <a:srgbClr val="374151"/>
                </a:solidFill>
                <a:latin typeface="Noto Sans"/>
              </a:rPr>
              <a:t> </a:t>
            </a:r>
            <a:r>
              <a:rPr sz="1196" b="0" dirty="0" err="1">
                <a:solidFill>
                  <a:srgbClr val="374151"/>
                </a:solidFill>
                <a:latin typeface="Noto Sans"/>
              </a:rPr>
              <a:t>населения</a:t>
            </a:r>
            <a:endParaRPr sz="1196" b="0" dirty="0">
              <a:solidFill>
                <a:srgbClr val="374151"/>
              </a:solidFill>
              <a:latin typeface="Noto Sans"/>
            </a:endParaRP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66733" y="4611342"/>
            <a:ext cx="266693" cy="22611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85822" y="4552949"/>
            <a:ext cx="4343291" cy="619124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196" b="0" dirty="0" err="1">
                <a:solidFill>
                  <a:srgbClr val="374151"/>
                </a:solidFill>
                <a:latin typeface="Noto Sans"/>
              </a:rPr>
              <a:t>Ограниченный</a:t>
            </a:r>
            <a:r>
              <a:rPr sz="1196" b="0" dirty="0">
                <a:solidFill>
                  <a:srgbClr val="374151"/>
                </a:solidFill>
                <a:latin typeface="Noto Sans"/>
              </a:rPr>
              <a:t> </a:t>
            </a:r>
            <a:r>
              <a:rPr sz="1196" b="0" dirty="0" err="1">
                <a:solidFill>
                  <a:srgbClr val="374151"/>
                </a:solidFill>
                <a:latin typeface="Noto Sans"/>
              </a:rPr>
              <a:t>доступ</a:t>
            </a:r>
            <a:r>
              <a:rPr sz="1196" b="0" dirty="0">
                <a:solidFill>
                  <a:srgbClr val="374151"/>
                </a:solidFill>
                <a:latin typeface="Noto Sans"/>
              </a:rPr>
              <a:t> к </a:t>
            </a:r>
            <a:r>
              <a:rPr sz="1196" b="0" dirty="0" err="1">
                <a:solidFill>
                  <a:srgbClr val="374151"/>
                </a:solidFill>
                <a:latin typeface="Noto Sans"/>
              </a:rPr>
              <a:t>профилактическим</a:t>
            </a:r>
            <a:r>
              <a:rPr sz="1196" b="0" dirty="0">
                <a:solidFill>
                  <a:srgbClr val="374151"/>
                </a:solidFill>
                <a:latin typeface="Noto Sans"/>
              </a:rPr>
              <a:t> </a:t>
            </a:r>
            <a:r>
              <a:rPr sz="1196" b="0" dirty="0" err="1">
                <a:solidFill>
                  <a:srgbClr val="374151"/>
                </a:solidFill>
                <a:latin typeface="Noto Sans"/>
              </a:rPr>
              <a:t>инструментам</a:t>
            </a:r>
            <a:endParaRPr sz="1196" b="0" dirty="0">
              <a:solidFill>
                <a:srgbClr val="374151"/>
              </a:solidFill>
              <a:latin typeface="Noto Sans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095847" y="857250"/>
            <a:ext cx="6095847" cy="600075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4" name="Rectangle 13"/>
          <p:cNvSpPr/>
          <p:nvPr/>
        </p:nvSpPr>
        <p:spPr>
          <a:xfrm>
            <a:off x="6762580" y="1743075"/>
            <a:ext cx="76198" cy="457200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5" name="TextBox 14"/>
          <p:cNvSpPr txBox="1"/>
          <p:nvPr/>
        </p:nvSpPr>
        <p:spPr>
          <a:xfrm>
            <a:off x="6991175" y="1743075"/>
            <a:ext cx="809604" cy="4572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1913" b="1" dirty="0" err="1">
                <a:solidFill>
                  <a:srgbClr val="0D47A1"/>
                </a:solidFill>
                <a:latin typeface="Noto Sans"/>
              </a:rPr>
              <a:t>Цели</a:t>
            </a:r>
            <a:endParaRPr sz="1913" b="1" dirty="0">
              <a:solidFill>
                <a:srgbClr val="0D47A1"/>
              </a:solidFill>
              <a:latin typeface="Noto Sans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6762580" y="2428875"/>
            <a:ext cx="4762380" cy="952499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7" name="Round Same Side Corner Rectangle 16"/>
          <p:cNvSpPr/>
          <p:nvPr/>
        </p:nvSpPr>
        <p:spPr>
          <a:xfrm rot="16200000">
            <a:off x="6352371" y="2839084"/>
            <a:ext cx="952499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991175" y="2800764"/>
            <a:ext cx="266693" cy="20872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410264" y="2619374"/>
            <a:ext cx="3924201" cy="57150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196" b="0" dirty="0" err="1">
                <a:solidFill>
                  <a:srgbClr val="1F2937"/>
                </a:solidFill>
                <a:latin typeface="Noto Sans"/>
              </a:rPr>
              <a:t>Разработка</a:t>
            </a:r>
            <a:r>
              <a:rPr sz="1196" b="0" dirty="0">
                <a:solidFill>
                  <a:srgbClr val="1F2937"/>
                </a:solidFill>
                <a:latin typeface="Noto Sans"/>
              </a:rPr>
              <a:t> </a:t>
            </a:r>
            <a:r>
              <a:rPr sz="1196" b="0" dirty="0" err="1">
                <a:solidFill>
                  <a:srgbClr val="1F2937"/>
                </a:solidFill>
                <a:latin typeface="Noto Sans"/>
              </a:rPr>
              <a:t>алгоритмов</a:t>
            </a:r>
            <a:r>
              <a:rPr sz="1196" b="0" dirty="0">
                <a:solidFill>
                  <a:srgbClr val="1F2937"/>
                </a:solidFill>
                <a:latin typeface="Noto Sans"/>
              </a:rPr>
              <a:t> </a:t>
            </a:r>
            <a:r>
              <a:rPr sz="1196" b="0" dirty="0" err="1">
                <a:solidFill>
                  <a:srgbClr val="1F2937"/>
                </a:solidFill>
                <a:latin typeface="Noto Sans"/>
              </a:rPr>
              <a:t>расчета</a:t>
            </a:r>
            <a:r>
              <a:rPr sz="1196" b="0" dirty="0">
                <a:solidFill>
                  <a:srgbClr val="1F2937"/>
                </a:solidFill>
                <a:latin typeface="Noto Sans"/>
              </a:rPr>
              <a:t> </a:t>
            </a:r>
            <a:r>
              <a:rPr sz="1196" b="0" dirty="0" err="1">
                <a:solidFill>
                  <a:srgbClr val="1F2937"/>
                </a:solidFill>
                <a:latin typeface="Noto Sans"/>
              </a:rPr>
              <a:t>вероятности</a:t>
            </a:r>
            <a:r>
              <a:rPr sz="1196" b="0" dirty="0">
                <a:solidFill>
                  <a:srgbClr val="1F2937"/>
                </a:solidFill>
                <a:latin typeface="Noto Sans"/>
              </a:rPr>
              <a:t> </a:t>
            </a:r>
            <a:r>
              <a:rPr sz="1196" b="0" dirty="0" err="1">
                <a:solidFill>
                  <a:srgbClr val="1F2937"/>
                </a:solidFill>
                <a:latin typeface="Noto Sans"/>
              </a:rPr>
              <a:t>заболеваний</a:t>
            </a:r>
            <a:endParaRPr sz="1196" b="0" dirty="0">
              <a:solidFill>
                <a:srgbClr val="1F2937"/>
              </a:solidFill>
              <a:latin typeface="Noto Sans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6762580" y="3571875"/>
            <a:ext cx="4762380" cy="952499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1" name="Round Same Side Corner Rectangle 20"/>
          <p:cNvSpPr/>
          <p:nvPr/>
        </p:nvSpPr>
        <p:spPr>
          <a:xfrm rot="16200000">
            <a:off x="6352371" y="3982084"/>
            <a:ext cx="952499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991175" y="3952460"/>
            <a:ext cx="266693" cy="1913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410264" y="3762374"/>
            <a:ext cx="3924201" cy="57150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196" b="0" dirty="0" err="1">
                <a:solidFill>
                  <a:srgbClr val="1F2937"/>
                </a:solidFill>
                <a:latin typeface="Noto Sans"/>
              </a:rPr>
              <a:t>Создание</a:t>
            </a:r>
            <a:r>
              <a:rPr sz="1196" b="0" dirty="0">
                <a:solidFill>
                  <a:srgbClr val="1F2937"/>
                </a:solidFill>
                <a:latin typeface="Noto Sans"/>
              </a:rPr>
              <a:t> </a:t>
            </a:r>
            <a:r>
              <a:rPr sz="1196" b="0" dirty="0" err="1">
                <a:solidFill>
                  <a:srgbClr val="1F2937"/>
                </a:solidFill>
                <a:latin typeface="Noto Sans"/>
              </a:rPr>
              <a:t>доступного</a:t>
            </a:r>
            <a:r>
              <a:rPr sz="1196" b="0" dirty="0">
                <a:solidFill>
                  <a:srgbClr val="1F2937"/>
                </a:solidFill>
                <a:latin typeface="Noto Sans"/>
              </a:rPr>
              <a:t> </a:t>
            </a:r>
            <a:r>
              <a:rPr sz="1196" b="0" dirty="0" err="1">
                <a:solidFill>
                  <a:srgbClr val="1F2937"/>
                </a:solidFill>
                <a:latin typeface="Noto Sans"/>
              </a:rPr>
              <a:t>веб-инструмента</a:t>
            </a:r>
            <a:r>
              <a:rPr sz="1196" b="0" dirty="0">
                <a:solidFill>
                  <a:srgbClr val="1F2937"/>
                </a:solidFill>
                <a:latin typeface="Noto Sans"/>
              </a:rPr>
              <a:t> </a:t>
            </a:r>
            <a:r>
              <a:rPr sz="1196" b="0" dirty="0" err="1">
                <a:solidFill>
                  <a:srgbClr val="1F2937"/>
                </a:solidFill>
                <a:latin typeface="Noto Sans"/>
              </a:rPr>
              <a:t>для</a:t>
            </a:r>
            <a:r>
              <a:rPr sz="1196" b="0" dirty="0">
                <a:solidFill>
                  <a:srgbClr val="1F2937"/>
                </a:solidFill>
                <a:latin typeface="Noto Sans"/>
              </a:rPr>
              <a:t> </a:t>
            </a:r>
            <a:r>
              <a:rPr sz="1196" b="0" dirty="0" err="1">
                <a:solidFill>
                  <a:srgbClr val="1F2937"/>
                </a:solidFill>
                <a:latin typeface="Noto Sans"/>
              </a:rPr>
              <a:t>пользователей</a:t>
            </a:r>
            <a:endParaRPr sz="1196" b="0" dirty="0">
              <a:solidFill>
                <a:srgbClr val="1F2937"/>
              </a:solidFill>
              <a:latin typeface="Noto Sans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6762580" y="4714875"/>
            <a:ext cx="4762380" cy="952499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5" name="Round Same Side Corner Rectangle 24"/>
          <p:cNvSpPr/>
          <p:nvPr/>
        </p:nvSpPr>
        <p:spPr>
          <a:xfrm rot="16200000">
            <a:off x="6352371" y="5125084"/>
            <a:ext cx="952499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6991175" y="5086764"/>
            <a:ext cx="266693" cy="20872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410264" y="4905375"/>
            <a:ext cx="3924201" cy="57150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196" b="0" dirty="0" err="1">
                <a:solidFill>
                  <a:srgbClr val="1F2937"/>
                </a:solidFill>
                <a:latin typeface="Noto Sans"/>
              </a:rPr>
              <a:t>Практическое</a:t>
            </a:r>
            <a:r>
              <a:rPr sz="1196" b="0" dirty="0">
                <a:solidFill>
                  <a:srgbClr val="1F2937"/>
                </a:solidFill>
                <a:latin typeface="Noto Sans"/>
              </a:rPr>
              <a:t> </a:t>
            </a:r>
            <a:r>
              <a:rPr sz="1196" b="0" dirty="0" err="1">
                <a:solidFill>
                  <a:srgbClr val="1F2937"/>
                </a:solidFill>
                <a:latin typeface="Noto Sans"/>
              </a:rPr>
              <a:t>применение</a:t>
            </a:r>
            <a:r>
              <a:rPr sz="1196" b="0" dirty="0">
                <a:solidFill>
                  <a:srgbClr val="1F2937"/>
                </a:solidFill>
                <a:latin typeface="Noto Sans"/>
              </a:rPr>
              <a:t> </a:t>
            </a:r>
            <a:r>
              <a:rPr sz="1196" b="0" dirty="0" err="1">
                <a:solidFill>
                  <a:srgbClr val="1F2937"/>
                </a:solidFill>
                <a:latin typeface="Noto Sans"/>
              </a:rPr>
              <a:t>языков</a:t>
            </a:r>
            <a:r>
              <a:rPr sz="1196" b="0" dirty="0">
                <a:solidFill>
                  <a:srgbClr val="1F2937"/>
                </a:solidFill>
                <a:latin typeface="Noto Sans"/>
              </a:rPr>
              <a:t> </a:t>
            </a:r>
            <a:r>
              <a:rPr sz="1196" b="0" dirty="0" err="1">
                <a:solidFill>
                  <a:srgbClr val="1F2937"/>
                </a:solidFill>
                <a:latin typeface="Noto Sans"/>
              </a:rPr>
              <a:t>программирования</a:t>
            </a:r>
            <a:endParaRPr sz="1196" b="0" dirty="0">
              <a:solidFill>
                <a:srgbClr val="1F2937"/>
              </a:solidFill>
              <a:latin typeface="Noto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5725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666733" y="294679"/>
            <a:ext cx="380990" cy="26789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00119" y="142875"/>
            <a:ext cx="5095747" cy="5715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2392" b="1" dirty="0" err="1">
                <a:solidFill>
                  <a:srgbClr val="FFFFFF"/>
                </a:solidFill>
                <a:latin typeface="Noto Sans"/>
              </a:rPr>
              <a:t>Функционал</a:t>
            </a:r>
            <a:r>
              <a:rPr sz="2392" b="1" dirty="0">
                <a:solidFill>
                  <a:srgbClr val="FFFFFF"/>
                </a:solidFill>
                <a:latin typeface="Noto Sans"/>
              </a:rPr>
              <a:t> </a:t>
            </a:r>
            <a:r>
              <a:rPr sz="2392" b="1" dirty="0" err="1">
                <a:solidFill>
                  <a:srgbClr val="FFFFFF"/>
                </a:solidFill>
                <a:latin typeface="Noto Sans"/>
              </a:rPr>
              <a:t>приложения</a:t>
            </a:r>
            <a:endParaRPr sz="2392" b="1" dirty="0">
              <a:solidFill>
                <a:srgbClr val="FFFFFF"/>
              </a:solidFill>
              <a:latin typeface="Noto Sans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66733" y="1638299"/>
            <a:ext cx="76198" cy="380999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895327" y="1628775"/>
            <a:ext cx="3076498" cy="4000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sz="1674" b="1" dirty="0" err="1">
                <a:solidFill>
                  <a:srgbClr val="0D47A1"/>
                </a:solidFill>
                <a:latin typeface="Noto Sans"/>
              </a:rPr>
              <a:t>Целевые</a:t>
            </a:r>
            <a:r>
              <a:rPr sz="1674" b="1" dirty="0">
                <a:solidFill>
                  <a:srgbClr val="0D47A1"/>
                </a:solidFill>
                <a:latin typeface="Noto Sans"/>
              </a:rPr>
              <a:t> </a:t>
            </a:r>
            <a:r>
              <a:rPr sz="1674" b="1" dirty="0" err="1">
                <a:solidFill>
                  <a:srgbClr val="0D47A1"/>
                </a:solidFill>
                <a:latin typeface="Noto Sans"/>
              </a:rPr>
              <a:t>заболевания</a:t>
            </a:r>
            <a:endParaRPr sz="1674" b="1" dirty="0">
              <a:solidFill>
                <a:srgbClr val="0D47A1"/>
              </a:solidFill>
              <a:latin typeface="Noto San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66733" y="2257425"/>
            <a:ext cx="2609784" cy="1314450"/>
          </a:xfrm>
          <a:prstGeom prst="roundRect">
            <a:avLst>
              <a:gd name="adj" fmla="val 17391"/>
            </a:avLst>
          </a:prstGeom>
          <a:gradFill rotWithShape="1">
            <a:gsLst>
              <a:gs pos="0">
                <a:srgbClr val="EFF6FF"/>
              </a:gs>
              <a:gs pos="100000">
                <a:srgbClr val="FFFFFF"/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8" name="Round Same Side Corner Rectangle 7"/>
          <p:cNvSpPr/>
          <p:nvPr/>
        </p:nvSpPr>
        <p:spPr>
          <a:xfrm rot="16200000">
            <a:off x="75548" y="2848610"/>
            <a:ext cx="131445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95327" y="2480163"/>
            <a:ext cx="304792" cy="24032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95327" y="2828925"/>
            <a:ext cx="2190695" cy="2857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260"/>
              </a:spcAft>
            </a:pPr>
            <a:r>
              <a:rPr sz="1196" b="1" dirty="0">
                <a:solidFill>
                  <a:srgbClr val="1F2937"/>
                </a:solidFill>
                <a:latin typeface="Noto Sans"/>
              </a:rPr>
              <a:t>ССЗ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5327" y="3152775"/>
            <a:ext cx="2190695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 dirty="0" err="1">
                <a:solidFill>
                  <a:srgbClr val="4B5563"/>
                </a:solidFill>
                <a:latin typeface="Noto Sans"/>
              </a:rPr>
              <a:t>Сердечно-сосудистые</a:t>
            </a:r>
            <a:endParaRPr sz="956" b="0" dirty="0">
              <a:solidFill>
                <a:srgbClr val="4B5563"/>
              </a:solidFill>
              <a:latin typeface="Noto Sans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3428914" y="2257425"/>
            <a:ext cx="2609784" cy="1314450"/>
          </a:xfrm>
          <a:prstGeom prst="roundRect">
            <a:avLst>
              <a:gd name="adj" fmla="val 17391"/>
            </a:avLst>
          </a:prstGeom>
          <a:gradFill rotWithShape="1">
            <a:gsLst>
              <a:gs pos="0">
                <a:srgbClr val="EFF6FF"/>
              </a:gs>
              <a:gs pos="100000">
                <a:srgbClr val="FFFFFF"/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3" name="Round Same Side Corner Rectangle 12"/>
          <p:cNvSpPr/>
          <p:nvPr/>
        </p:nvSpPr>
        <p:spPr>
          <a:xfrm rot="16200000">
            <a:off x="2837729" y="2848610"/>
            <a:ext cx="131445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657508" y="2487490"/>
            <a:ext cx="304792" cy="22566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657508" y="2828925"/>
            <a:ext cx="2190695" cy="2857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260"/>
              </a:spcAft>
            </a:pPr>
            <a:r>
              <a:rPr sz="1196" b="1" dirty="0" err="1">
                <a:solidFill>
                  <a:srgbClr val="1F2937"/>
                </a:solidFill>
                <a:latin typeface="Noto Sans"/>
              </a:rPr>
              <a:t>Рак</a:t>
            </a:r>
            <a:r>
              <a:rPr sz="1196" b="1" dirty="0">
                <a:solidFill>
                  <a:srgbClr val="1F2937"/>
                </a:solidFill>
                <a:latin typeface="Noto Sans"/>
              </a:rPr>
              <a:t> </a:t>
            </a:r>
            <a:r>
              <a:rPr sz="1196" b="1" dirty="0" err="1">
                <a:solidFill>
                  <a:srgbClr val="1F2937"/>
                </a:solidFill>
                <a:latin typeface="Noto Sans"/>
              </a:rPr>
              <a:t>лёгких</a:t>
            </a:r>
            <a:endParaRPr sz="1196" b="1" dirty="0">
              <a:solidFill>
                <a:srgbClr val="1F2937"/>
              </a:solidFill>
              <a:latin typeface="Noto San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657508" y="3152775"/>
            <a:ext cx="2190695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 dirty="0" err="1">
                <a:solidFill>
                  <a:srgbClr val="4B5563"/>
                </a:solidFill>
                <a:latin typeface="Noto Sans"/>
              </a:rPr>
              <a:t>Онкология</a:t>
            </a:r>
            <a:endParaRPr sz="956" b="0" dirty="0">
              <a:solidFill>
                <a:srgbClr val="4B5563"/>
              </a:solidFill>
              <a:latin typeface="Noto Sans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666733" y="3724274"/>
            <a:ext cx="2609784" cy="1314450"/>
          </a:xfrm>
          <a:prstGeom prst="roundRect">
            <a:avLst>
              <a:gd name="adj" fmla="val 17391"/>
            </a:avLst>
          </a:prstGeom>
          <a:gradFill rotWithShape="1">
            <a:gsLst>
              <a:gs pos="0">
                <a:srgbClr val="EFF6FF"/>
              </a:gs>
              <a:gs pos="100000">
                <a:srgbClr val="FFFFFF"/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8" name="Round Same Side Corner Rectangle 17"/>
          <p:cNvSpPr/>
          <p:nvPr/>
        </p:nvSpPr>
        <p:spPr>
          <a:xfrm rot="16200000">
            <a:off x="75548" y="4315459"/>
            <a:ext cx="131445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95327" y="3958736"/>
            <a:ext cx="304792" cy="21687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95327" y="4295774"/>
            <a:ext cx="2190695" cy="2857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260"/>
              </a:spcAft>
            </a:pPr>
            <a:r>
              <a:rPr sz="1196" b="1" dirty="0" err="1">
                <a:solidFill>
                  <a:srgbClr val="1F2937"/>
                </a:solidFill>
                <a:latin typeface="Noto Sans"/>
              </a:rPr>
              <a:t>Гипертензия</a:t>
            </a:r>
            <a:endParaRPr sz="1196" b="1" dirty="0">
              <a:solidFill>
                <a:srgbClr val="1F2937"/>
              </a:solidFill>
              <a:latin typeface="Noto San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895327" y="4619625"/>
            <a:ext cx="2190695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 dirty="0" err="1">
                <a:solidFill>
                  <a:srgbClr val="4B5563"/>
                </a:solidFill>
                <a:latin typeface="Noto Sans"/>
              </a:rPr>
              <a:t>Артериальная</a:t>
            </a:r>
            <a:endParaRPr sz="956" b="0" dirty="0">
              <a:solidFill>
                <a:srgbClr val="4B5563"/>
              </a:solidFill>
              <a:latin typeface="Noto Sans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3428914" y="3724274"/>
            <a:ext cx="2609784" cy="1314450"/>
          </a:xfrm>
          <a:prstGeom prst="roundRect">
            <a:avLst>
              <a:gd name="adj" fmla="val 17391"/>
            </a:avLst>
          </a:prstGeom>
          <a:gradFill rotWithShape="1">
            <a:gsLst>
              <a:gs pos="0">
                <a:srgbClr val="EFF6FF"/>
              </a:gs>
              <a:gs pos="100000">
                <a:srgbClr val="FFFFFF"/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3" name="Round Same Side Corner Rectangle 22"/>
          <p:cNvSpPr/>
          <p:nvPr/>
        </p:nvSpPr>
        <p:spPr>
          <a:xfrm rot="16200000">
            <a:off x="2837729" y="4315459"/>
            <a:ext cx="131445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657508" y="3949944"/>
            <a:ext cx="304792" cy="234461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657508" y="4295774"/>
            <a:ext cx="2190695" cy="2857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260"/>
              </a:spcAft>
            </a:pPr>
            <a:r>
              <a:rPr sz="1196" b="1" dirty="0" err="1">
                <a:solidFill>
                  <a:srgbClr val="1F2937"/>
                </a:solidFill>
                <a:latin typeface="Noto Sans"/>
              </a:rPr>
              <a:t>Ожирение</a:t>
            </a:r>
            <a:endParaRPr sz="1196" b="1" dirty="0">
              <a:solidFill>
                <a:srgbClr val="1F2937"/>
              </a:solidFill>
              <a:latin typeface="Noto San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3657508" y="4619625"/>
            <a:ext cx="2190695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 dirty="0" err="1">
                <a:solidFill>
                  <a:srgbClr val="4B5563"/>
                </a:solidFill>
                <a:latin typeface="Noto Sans"/>
              </a:rPr>
              <a:t>Метаболизм</a:t>
            </a:r>
            <a:endParaRPr sz="956" b="0" dirty="0">
              <a:solidFill>
                <a:srgbClr val="4B5563"/>
              </a:solidFill>
              <a:latin typeface="Noto Sans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666733" y="5191125"/>
            <a:ext cx="5371965" cy="895350"/>
          </a:xfrm>
          <a:prstGeom prst="roundRect">
            <a:avLst>
              <a:gd name="adj" fmla="val 25531"/>
            </a:avLst>
          </a:prstGeom>
          <a:gradFill rotWithShape="1">
            <a:gsLst>
              <a:gs pos="0">
                <a:srgbClr val="EFF6FF"/>
              </a:gs>
              <a:gs pos="100000">
                <a:srgbClr val="FFFFFF"/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8" name="Round Same Side Corner Rectangle 27"/>
          <p:cNvSpPr/>
          <p:nvPr/>
        </p:nvSpPr>
        <p:spPr>
          <a:xfrm rot="16200000">
            <a:off x="285098" y="5572760"/>
            <a:ext cx="89535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895327" y="5509846"/>
            <a:ext cx="304792" cy="257907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314417" y="5381624"/>
            <a:ext cx="3362240" cy="2857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196" b="1" dirty="0" err="1">
                <a:solidFill>
                  <a:srgbClr val="1F2937"/>
                </a:solidFill>
                <a:latin typeface="Noto Sans"/>
              </a:rPr>
              <a:t>Хроническая</a:t>
            </a:r>
            <a:r>
              <a:rPr sz="1196" b="1" dirty="0">
                <a:solidFill>
                  <a:srgbClr val="1F2937"/>
                </a:solidFill>
                <a:latin typeface="Noto Sans"/>
              </a:rPr>
              <a:t> </a:t>
            </a:r>
            <a:r>
              <a:rPr sz="1196" b="1" dirty="0" err="1">
                <a:solidFill>
                  <a:srgbClr val="1F2937"/>
                </a:solidFill>
                <a:latin typeface="Noto Sans"/>
              </a:rPr>
              <a:t>болезнь</a:t>
            </a:r>
            <a:r>
              <a:rPr sz="1196" b="1" dirty="0">
                <a:solidFill>
                  <a:srgbClr val="1F2937"/>
                </a:solidFill>
                <a:latin typeface="Noto Sans"/>
              </a:rPr>
              <a:t> </a:t>
            </a:r>
            <a:r>
              <a:rPr sz="1196" b="1" dirty="0" err="1">
                <a:solidFill>
                  <a:srgbClr val="1F2937"/>
                </a:solidFill>
                <a:latin typeface="Noto Sans"/>
              </a:rPr>
              <a:t>почек</a:t>
            </a:r>
            <a:r>
              <a:rPr sz="1196" b="1" dirty="0">
                <a:solidFill>
                  <a:srgbClr val="1F2937"/>
                </a:solidFill>
                <a:latin typeface="Noto Sans"/>
              </a:rPr>
              <a:t> (ХБП)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14417" y="5667374"/>
            <a:ext cx="3362240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 dirty="0" err="1">
                <a:solidFill>
                  <a:srgbClr val="4B5563"/>
                </a:solidFill>
                <a:latin typeface="Noto Sans"/>
              </a:rPr>
              <a:t>Нефрология</a:t>
            </a:r>
            <a:endParaRPr sz="956" b="0" dirty="0">
              <a:solidFill>
                <a:srgbClr val="4B5563"/>
              </a:solidFill>
              <a:latin typeface="Noto Sans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6705432" y="857250"/>
            <a:ext cx="5486262" cy="600075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3" name="Rectangle 32"/>
          <p:cNvSpPr/>
          <p:nvPr/>
        </p:nvSpPr>
        <p:spPr>
          <a:xfrm>
            <a:off x="7372165" y="1638299"/>
            <a:ext cx="76198" cy="380999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4" name="TextBox 33"/>
          <p:cNvSpPr txBox="1"/>
          <p:nvPr/>
        </p:nvSpPr>
        <p:spPr>
          <a:xfrm>
            <a:off x="7600759" y="1628775"/>
            <a:ext cx="2743131" cy="4000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sz="1674" b="1" dirty="0" err="1">
                <a:solidFill>
                  <a:srgbClr val="0D47A1"/>
                </a:solidFill>
                <a:latin typeface="Noto Sans"/>
              </a:rPr>
              <a:t>Ключевые</a:t>
            </a:r>
            <a:r>
              <a:rPr sz="1674" b="1" dirty="0">
                <a:solidFill>
                  <a:srgbClr val="0D47A1"/>
                </a:solidFill>
                <a:latin typeface="Noto Sans"/>
              </a:rPr>
              <a:t> </a:t>
            </a:r>
            <a:r>
              <a:rPr sz="1674" b="1" dirty="0" err="1">
                <a:solidFill>
                  <a:srgbClr val="0D47A1"/>
                </a:solidFill>
                <a:latin typeface="Noto Sans"/>
              </a:rPr>
              <a:t>функции</a:t>
            </a:r>
            <a:endParaRPr sz="1674" b="1" dirty="0">
              <a:solidFill>
                <a:srgbClr val="0D47A1"/>
              </a:solidFill>
              <a:latin typeface="Noto Sans"/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7372165" y="2257425"/>
            <a:ext cx="4152796" cy="590549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7524561" y="2448339"/>
            <a:ext cx="266693" cy="208721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7943651" y="2409825"/>
            <a:ext cx="2505012" cy="2857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196" b="0" dirty="0" err="1">
                <a:solidFill>
                  <a:srgbClr val="1F2937"/>
                </a:solidFill>
                <a:latin typeface="Noto Sans"/>
              </a:rPr>
              <a:t>Ввод</a:t>
            </a:r>
            <a:r>
              <a:rPr sz="1196" b="0" dirty="0">
                <a:solidFill>
                  <a:srgbClr val="1F2937"/>
                </a:solidFill>
                <a:latin typeface="Noto Sans"/>
              </a:rPr>
              <a:t> </a:t>
            </a:r>
            <a:r>
              <a:rPr sz="1196" b="0" dirty="0" err="1">
                <a:solidFill>
                  <a:srgbClr val="1F2937"/>
                </a:solidFill>
                <a:latin typeface="Noto Sans"/>
              </a:rPr>
              <a:t>медицинских</a:t>
            </a:r>
            <a:r>
              <a:rPr sz="1196" b="0" dirty="0">
                <a:solidFill>
                  <a:srgbClr val="1F2937"/>
                </a:solidFill>
                <a:latin typeface="Noto Sans"/>
              </a:rPr>
              <a:t> </a:t>
            </a:r>
            <a:r>
              <a:rPr sz="1196" b="0" dirty="0" err="1">
                <a:solidFill>
                  <a:srgbClr val="1F2937"/>
                </a:solidFill>
                <a:latin typeface="Noto Sans"/>
              </a:rPr>
              <a:t>данных</a:t>
            </a:r>
            <a:endParaRPr sz="1196" b="0" dirty="0">
              <a:solidFill>
                <a:srgbClr val="1F2937"/>
              </a:solidFill>
              <a:latin typeface="Noto Sans"/>
            </a:endParaRPr>
          </a:p>
        </p:txBody>
      </p:sp>
      <p:sp>
        <p:nvSpPr>
          <p:cNvPr id="38" name="Rounded Rectangle 37"/>
          <p:cNvSpPr/>
          <p:nvPr/>
        </p:nvSpPr>
        <p:spPr>
          <a:xfrm>
            <a:off x="7372165" y="3000375"/>
            <a:ext cx="4152796" cy="590549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7524561" y="3191289"/>
            <a:ext cx="266693" cy="208721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7943651" y="3152775"/>
            <a:ext cx="2152596" cy="2857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196" b="0" dirty="0" err="1">
                <a:solidFill>
                  <a:srgbClr val="1F2937"/>
                </a:solidFill>
                <a:latin typeface="Noto Sans"/>
              </a:rPr>
              <a:t>Расчет</a:t>
            </a:r>
            <a:r>
              <a:rPr sz="1196" b="0" dirty="0">
                <a:solidFill>
                  <a:srgbClr val="1F2937"/>
                </a:solidFill>
                <a:latin typeface="Noto Sans"/>
              </a:rPr>
              <a:t> </a:t>
            </a:r>
            <a:r>
              <a:rPr sz="1196" b="0" dirty="0" err="1">
                <a:solidFill>
                  <a:srgbClr val="1F2937"/>
                </a:solidFill>
                <a:latin typeface="Noto Sans"/>
              </a:rPr>
              <a:t>вероятности</a:t>
            </a:r>
            <a:r>
              <a:rPr sz="1196" b="0" dirty="0">
                <a:solidFill>
                  <a:srgbClr val="1F2937"/>
                </a:solidFill>
                <a:latin typeface="Noto Sans"/>
              </a:rPr>
              <a:t> (%)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372165" y="3743325"/>
            <a:ext cx="4152796" cy="590549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524561" y="3954531"/>
            <a:ext cx="266693" cy="168136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943651" y="3895724"/>
            <a:ext cx="2000199" cy="2857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196" b="0" dirty="0" err="1">
                <a:solidFill>
                  <a:srgbClr val="1F2937"/>
                </a:solidFill>
                <a:latin typeface="Noto Sans"/>
              </a:rPr>
              <a:t>Визуализация</a:t>
            </a:r>
            <a:r>
              <a:rPr sz="1196" b="0" dirty="0">
                <a:solidFill>
                  <a:srgbClr val="1F2937"/>
                </a:solidFill>
                <a:latin typeface="Noto Sans"/>
              </a:rPr>
              <a:t> </a:t>
            </a:r>
            <a:r>
              <a:rPr sz="1196" b="0" dirty="0" err="1">
                <a:solidFill>
                  <a:srgbClr val="1F2937"/>
                </a:solidFill>
                <a:latin typeface="Noto Sans"/>
              </a:rPr>
              <a:t>рисков</a:t>
            </a:r>
            <a:endParaRPr sz="1196" b="0" dirty="0">
              <a:solidFill>
                <a:srgbClr val="1F2937"/>
              </a:solidFill>
              <a:latin typeface="Noto Sans"/>
            </a:endParaRPr>
          </a:p>
        </p:txBody>
      </p:sp>
      <p:sp>
        <p:nvSpPr>
          <p:cNvPr id="44" name="Rectangle 43"/>
          <p:cNvSpPr/>
          <p:nvPr/>
        </p:nvSpPr>
        <p:spPr>
          <a:xfrm>
            <a:off x="7372165" y="4448175"/>
            <a:ext cx="4152796" cy="2158814"/>
          </a:xfrm>
          <a:prstGeom prst="rect">
            <a:avLst/>
          </a:prstGeom>
          <a:blipFill>
            <a:blip r:embed="rId11"/>
            <a:stretch>
              <a:fillRect/>
            </a:stretch>
          </a:blip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5725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666733" y="327421"/>
            <a:ext cx="380990" cy="20240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00119" y="146079"/>
            <a:ext cx="3778535" cy="56509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392" b="1" noProof="1">
                <a:solidFill>
                  <a:srgbClr val="FFFFFF"/>
                </a:solidFill>
                <a:latin typeface="Noto Sans"/>
              </a:rPr>
              <a:t>Технологический стек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6733" y="1415561"/>
            <a:ext cx="304792" cy="2168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85822" y="1311056"/>
            <a:ext cx="1133580" cy="42588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74" b="1" noProof="1">
                <a:solidFill>
                  <a:srgbClr val="0D47A1"/>
                </a:solidFill>
                <a:latin typeface="Noto Sans"/>
              </a:rPr>
              <a:t>Frontend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6733" y="1914525"/>
            <a:ext cx="1685882" cy="990599"/>
          </a:xfrm>
          <a:prstGeom prst="roundRect">
            <a:avLst>
              <a:gd name="adj" fmla="val 23076"/>
            </a:avLst>
          </a:prstGeom>
          <a:gradFill rotWithShape="1">
            <a:gsLst>
              <a:gs pos="0">
                <a:srgbClr val="FFF7ED"/>
              </a:gs>
              <a:gs pos="100000">
                <a:srgbClr val="FFFFFF"/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8" name="Round Same Side Corner Rectangle 7"/>
          <p:cNvSpPr/>
          <p:nvPr/>
        </p:nvSpPr>
        <p:spPr>
          <a:xfrm rot="16200000">
            <a:off x="237474" y="2343784"/>
            <a:ext cx="990599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9" name="TextBox 8"/>
          <p:cNvSpPr txBox="1"/>
          <p:nvPr/>
        </p:nvSpPr>
        <p:spPr>
          <a:xfrm>
            <a:off x="1142271" y="2086711"/>
            <a:ext cx="772904" cy="37952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260"/>
              </a:spcAft>
            </a:pPr>
            <a:r>
              <a:rPr lang="en-US" sz="1435" b="1" noProof="1">
                <a:solidFill>
                  <a:srgbClr val="EA580C"/>
                </a:solidFill>
                <a:latin typeface="Noto Sans"/>
              </a:rPr>
              <a:t>HTML5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4294" y="2454099"/>
            <a:ext cx="748858" cy="29245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56" b="0" noProof="1">
                <a:solidFill>
                  <a:srgbClr val="4B5563"/>
                </a:solidFill>
                <a:latin typeface="Noto Sans"/>
              </a:rPr>
              <a:t>Структура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05012" y="1914525"/>
            <a:ext cx="1685882" cy="990599"/>
          </a:xfrm>
          <a:prstGeom prst="roundRect">
            <a:avLst>
              <a:gd name="adj" fmla="val 23076"/>
            </a:avLst>
          </a:prstGeom>
          <a:gradFill rotWithShape="1">
            <a:gsLst>
              <a:gs pos="0">
                <a:srgbClr val="EFF6FF"/>
              </a:gs>
              <a:gs pos="100000">
                <a:srgbClr val="FFFFFF"/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2" name="Round Same Side Corner Rectangle 11"/>
          <p:cNvSpPr/>
          <p:nvPr/>
        </p:nvSpPr>
        <p:spPr>
          <a:xfrm rot="16200000">
            <a:off x="2075753" y="2343784"/>
            <a:ext cx="990599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3" name="TextBox 12"/>
          <p:cNvSpPr txBox="1"/>
          <p:nvPr/>
        </p:nvSpPr>
        <p:spPr>
          <a:xfrm>
            <a:off x="3133637" y="2086711"/>
            <a:ext cx="466730" cy="37952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260"/>
              </a:spcAft>
            </a:pPr>
            <a:r>
              <a:rPr lang="en-US" sz="1435" b="1" noProof="1">
                <a:solidFill>
                  <a:srgbClr val="2563EB"/>
                </a:solidFill>
                <a:latin typeface="Noto Sans"/>
              </a:rPr>
              <a:t>CSS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11997" y="2454099"/>
            <a:ext cx="510011" cy="29245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56" b="0" noProof="1">
                <a:solidFill>
                  <a:srgbClr val="4B5563"/>
                </a:solidFill>
                <a:latin typeface="Noto Sans"/>
              </a:rPr>
              <a:t>Стили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52816" y="1914525"/>
            <a:ext cx="1685882" cy="990599"/>
          </a:xfrm>
          <a:prstGeom prst="roundRect">
            <a:avLst>
              <a:gd name="adj" fmla="val 23076"/>
            </a:avLst>
          </a:prstGeom>
          <a:gradFill rotWithShape="1">
            <a:gsLst>
              <a:gs pos="0">
                <a:srgbClr val="FEFCE8"/>
              </a:gs>
              <a:gs pos="100000">
                <a:srgbClr val="FFFFFF"/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6" name="Round Same Side Corner Rectangle 15"/>
          <p:cNvSpPr/>
          <p:nvPr/>
        </p:nvSpPr>
        <p:spPr>
          <a:xfrm rot="16200000">
            <a:off x="3923557" y="2343784"/>
            <a:ext cx="990599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7" name="TextBox 16"/>
          <p:cNvSpPr txBox="1"/>
          <p:nvPr/>
        </p:nvSpPr>
        <p:spPr>
          <a:xfrm>
            <a:off x="4681679" y="2086711"/>
            <a:ext cx="1066254" cy="37952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260"/>
              </a:spcAft>
            </a:pPr>
            <a:r>
              <a:rPr lang="en-US" sz="1435" b="1" noProof="1">
                <a:solidFill>
                  <a:srgbClr val="A16207"/>
                </a:solidFill>
                <a:latin typeface="Noto Sans"/>
              </a:rPr>
              <a:t>JavaScript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28542" y="2454099"/>
            <a:ext cx="572529" cy="29245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56" b="0" noProof="1">
                <a:solidFill>
                  <a:srgbClr val="4B5563"/>
                </a:solidFill>
                <a:latin typeface="Noto Sans"/>
              </a:rPr>
              <a:t>Логика</a:t>
            </a:r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66733" y="3292719"/>
            <a:ext cx="304792" cy="234461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85822" y="3197007"/>
            <a:ext cx="1069460" cy="42588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74" b="1" noProof="1">
                <a:solidFill>
                  <a:srgbClr val="0D47A1"/>
                </a:solidFill>
                <a:latin typeface="Noto Sans"/>
              </a:rPr>
              <a:t>Backend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6733" y="3800475"/>
            <a:ext cx="2609784" cy="990599"/>
          </a:xfrm>
          <a:prstGeom prst="roundRect">
            <a:avLst>
              <a:gd name="adj" fmla="val 23076"/>
            </a:avLst>
          </a:prstGeom>
          <a:gradFill rotWithShape="1">
            <a:gsLst>
              <a:gs pos="0">
                <a:srgbClr val="F0FDF4"/>
              </a:gs>
              <a:gs pos="100000">
                <a:srgbClr val="FFFFFF"/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22" name="Round Same Side Corner Rectangle 21"/>
          <p:cNvSpPr/>
          <p:nvPr/>
        </p:nvSpPr>
        <p:spPr>
          <a:xfrm rot="16200000">
            <a:off x="237474" y="4229734"/>
            <a:ext cx="990599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23" name="TextBox 22"/>
          <p:cNvSpPr txBox="1"/>
          <p:nvPr/>
        </p:nvSpPr>
        <p:spPr>
          <a:xfrm>
            <a:off x="895327" y="3972661"/>
            <a:ext cx="801758" cy="37952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260"/>
              </a:spcAft>
            </a:pPr>
            <a:r>
              <a:rPr lang="en-US" sz="1435" b="1" noProof="1">
                <a:solidFill>
                  <a:srgbClr val="16A34A"/>
                </a:solidFill>
                <a:latin typeface="Noto Sans"/>
              </a:rPr>
              <a:t>Python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5327" y="4340049"/>
            <a:ext cx="1077474" cy="29245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56" b="0" noProof="1">
                <a:solidFill>
                  <a:srgbClr val="4B5563"/>
                </a:solidFill>
                <a:latin typeface="Noto Sans"/>
              </a:rPr>
              <a:t>Основной язык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66733" y="5187461"/>
            <a:ext cx="304792" cy="216876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085822" y="5082956"/>
            <a:ext cx="1582421" cy="42588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74" b="1" noProof="1">
                <a:solidFill>
                  <a:srgbClr val="0D47A1"/>
                </a:solidFill>
                <a:latin typeface="Noto Sans"/>
              </a:rPr>
              <a:t>База данных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6733" y="5686425"/>
            <a:ext cx="2886002" cy="990599"/>
          </a:xfrm>
          <a:prstGeom prst="roundRect">
            <a:avLst>
              <a:gd name="adj" fmla="val 23076"/>
            </a:avLst>
          </a:prstGeom>
          <a:gradFill rotWithShape="1">
            <a:gsLst>
              <a:gs pos="0">
                <a:srgbClr val="FAF5FF"/>
              </a:gs>
              <a:gs pos="100000">
                <a:srgbClr val="FFFFFF"/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32" name="Round Same Side Corner Rectangle 31"/>
          <p:cNvSpPr/>
          <p:nvPr/>
        </p:nvSpPr>
        <p:spPr>
          <a:xfrm rot="16200000">
            <a:off x="237474" y="6115684"/>
            <a:ext cx="990599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933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33" name="TextBox 32"/>
          <p:cNvSpPr txBox="1"/>
          <p:nvPr/>
        </p:nvSpPr>
        <p:spPr>
          <a:xfrm>
            <a:off x="895327" y="5858612"/>
            <a:ext cx="744050" cy="37952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260"/>
              </a:spcAft>
            </a:pPr>
            <a:r>
              <a:rPr lang="en-US" sz="1435" b="1" noProof="1">
                <a:solidFill>
                  <a:srgbClr val="9333EA"/>
                </a:solidFill>
                <a:latin typeface="Noto Sans"/>
              </a:rPr>
              <a:t>SQLite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5327" y="6225999"/>
            <a:ext cx="2170722" cy="29245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56" b="0" noProof="1">
                <a:solidFill>
                  <a:srgbClr val="4B5563"/>
                </a:solidFill>
                <a:latin typeface="Noto Sans"/>
              </a:rPr>
              <a:t>Хранение данных пользователей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705432" y="857250"/>
            <a:ext cx="5486262" cy="62865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36" name="Rectangle 35"/>
          <p:cNvSpPr/>
          <p:nvPr/>
        </p:nvSpPr>
        <p:spPr>
          <a:xfrm>
            <a:off x="7372165" y="1238249"/>
            <a:ext cx="4152796" cy="5143500"/>
          </a:xfrm>
          <a:prstGeom prst="rect">
            <a:avLst/>
          </a:prstGeom>
          <a:blipFill>
            <a:blip r:embed="rId6"/>
            <a:stretch>
              <a:fillRect/>
            </a:stretch>
          </a:blip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5725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666733" y="282773"/>
            <a:ext cx="380990" cy="2917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00119" y="146079"/>
            <a:ext cx="4317144" cy="56509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392" b="1" noProof="1">
                <a:solidFill>
                  <a:srgbClr val="FFFFFF"/>
                </a:solidFill>
                <a:latin typeface="Noto Sans"/>
              </a:rPr>
              <a:t>Алгоритм</a:t>
            </a:r>
            <a:r>
              <a:rPr sz="2392" b="1" dirty="0">
                <a:solidFill>
                  <a:srgbClr val="FFFFFF"/>
                </a:solidFill>
                <a:latin typeface="Noto Sans"/>
              </a:rPr>
              <a:t> </a:t>
            </a:r>
            <a:r>
              <a:rPr sz="2392" b="1" dirty="0" err="1">
                <a:solidFill>
                  <a:srgbClr val="FFFFFF"/>
                </a:solidFill>
                <a:latin typeface="Noto Sans"/>
              </a:rPr>
              <a:t>расчета</a:t>
            </a:r>
            <a:r>
              <a:rPr sz="2392" b="1" dirty="0">
                <a:solidFill>
                  <a:srgbClr val="FFFFFF"/>
                </a:solidFill>
                <a:latin typeface="Noto Sans"/>
              </a:rPr>
              <a:t> </a:t>
            </a:r>
            <a:r>
              <a:rPr sz="2392" b="1" dirty="0" err="1">
                <a:solidFill>
                  <a:srgbClr val="FFFFFF"/>
                </a:solidFill>
                <a:latin typeface="Noto Sans"/>
              </a:rPr>
              <a:t>рисков</a:t>
            </a:r>
            <a:endParaRPr sz="2392" b="1" dirty="0">
              <a:solidFill>
                <a:srgbClr val="FFFFFF"/>
              </a:solidFill>
              <a:latin typeface="Noto Sans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66733" y="2047874"/>
            <a:ext cx="2666933" cy="2857500"/>
          </a:xfrm>
          <a:prstGeom prst="roundRect">
            <a:avLst>
              <a:gd name="adj" fmla="val 11428"/>
            </a:avLst>
          </a:prstGeom>
          <a:gradFill rotWithShape="1">
            <a:gsLst>
              <a:gs pos="0">
                <a:srgbClr val="EFF6FF"/>
              </a:gs>
              <a:gs pos="100000">
                <a:srgbClr val="FFFFFF"/>
              </a:gs>
            </a:gsLst>
            <a:lin ang="8100000" scaled="0"/>
          </a:gradFill>
          <a:ln w="33020">
            <a:solidFill>
              <a:srgbClr val="4FC3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6" name="Rounded Rectangle 5"/>
          <p:cNvSpPr/>
          <p:nvPr/>
        </p:nvSpPr>
        <p:spPr>
          <a:xfrm>
            <a:off x="1695407" y="2314575"/>
            <a:ext cx="609584" cy="609600"/>
          </a:xfrm>
          <a:prstGeom prst="roundRect">
            <a:avLst>
              <a:gd name="adj" fmla="val 31246875"/>
            </a:avLst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28754" y="2486353"/>
            <a:ext cx="342891" cy="26604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95327" y="3076574"/>
            <a:ext cx="2209744" cy="3429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780"/>
              </a:spcAft>
            </a:pPr>
            <a:r>
              <a:rPr sz="1435" b="1" dirty="0" err="1">
                <a:solidFill>
                  <a:srgbClr val="0D47A1"/>
                </a:solidFill>
                <a:latin typeface="Noto Sans"/>
              </a:rPr>
              <a:t>Ввод</a:t>
            </a:r>
            <a:r>
              <a:rPr sz="1435" b="1" dirty="0">
                <a:solidFill>
                  <a:srgbClr val="0D47A1"/>
                </a:solidFill>
                <a:latin typeface="Noto Sans"/>
              </a:rPr>
              <a:t> </a:t>
            </a:r>
            <a:r>
              <a:rPr sz="1435" b="1" dirty="0" err="1">
                <a:solidFill>
                  <a:srgbClr val="0D47A1"/>
                </a:solidFill>
                <a:latin typeface="Noto Sans"/>
              </a:rPr>
              <a:t>данных</a:t>
            </a:r>
            <a:endParaRPr sz="1435" b="1" dirty="0">
              <a:solidFill>
                <a:srgbClr val="0D47A1"/>
              </a:solidFill>
              <a:latin typeface="Noto Sans"/>
            </a:endParaRP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95327" y="3608070"/>
            <a:ext cx="133346" cy="8001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04872" y="3533774"/>
            <a:ext cx="942951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 dirty="0" err="1">
                <a:solidFill>
                  <a:srgbClr val="374151"/>
                </a:solidFill>
                <a:latin typeface="Noto Sans"/>
              </a:rPr>
              <a:t>Возраст</a:t>
            </a:r>
            <a:r>
              <a:rPr sz="956" b="0" dirty="0">
                <a:solidFill>
                  <a:srgbClr val="374151"/>
                </a:solidFill>
                <a:latin typeface="Noto Sans"/>
              </a:rPr>
              <a:t>, </a:t>
            </a:r>
            <a:r>
              <a:rPr sz="956" b="0" dirty="0" err="1">
                <a:solidFill>
                  <a:srgbClr val="374151"/>
                </a:solidFill>
                <a:latin typeface="Noto Sans"/>
              </a:rPr>
              <a:t>пол</a:t>
            </a:r>
            <a:endParaRPr sz="956" b="0" dirty="0">
              <a:solidFill>
                <a:srgbClr val="374151"/>
              </a:solidFill>
              <a:latin typeface="Noto Sans"/>
            </a:endParaRP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95327" y="3912870"/>
            <a:ext cx="133346" cy="8001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04872" y="3838574"/>
            <a:ext cx="1076298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 dirty="0">
                <a:solidFill>
                  <a:srgbClr val="374151"/>
                </a:solidFill>
                <a:latin typeface="Noto Sans"/>
              </a:rPr>
              <a:t>ИМТ, </a:t>
            </a:r>
            <a:r>
              <a:rPr sz="956" b="0" dirty="0" err="1">
                <a:solidFill>
                  <a:srgbClr val="374151"/>
                </a:solidFill>
                <a:latin typeface="Noto Sans"/>
              </a:rPr>
              <a:t>рост</a:t>
            </a:r>
            <a:r>
              <a:rPr sz="956" b="0" dirty="0">
                <a:solidFill>
                  <a:srgbClr val="374151"/>
                </a:solidFill>
                <a:latin typeface="Noto Sans"/>
              </a:rPr>
              <a:t>, </a:t>
            </a:r>
            <a:r>
              <a:rPr sz="956" b="0" dirty="0" err="1">
                <a:solidFill>
                  <a:srgbClr val="374151"/>
                </a:solidFill>
                <a:latin typeface="Noto Sans"/>
              </a:rPr>
              <a:t>вес</a:t>
            </a:r>
            <a:endParaRPr sz="956" b="0" dirty="0">
              <a:solidFill>
                <a:srgbClr val="374151"/>
              </a:solidFill>
              <a:latin typeface="Noto Sans"/>
            </a:endParaRP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95327" y="4217670"/>
            <a:ext cx="133346" cy="8001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04872" y="4143375"/>
            <a:ext cx="1219169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 dirty="0" err="1">
                <a:solidFill>
                  <a:srgbClr val="374151"/>
                </a:solidFill>
                <a:latin typeface="Noto Sans"/>
              </a:rPr>
              <a:t>Давление</a:t>
            </a:r>
            <a:r>
              <a:rPr sz="956" b="0" dirty="0">
                <a:solidFill>
                  <a:srgbClr val="374151"/>
                </a:solidFill>
                <a:latin typeface="Noto Sans"/>
              </a:rPr>
              <a:t>, </a:t>
            </a:r>
            <a:r>
              <a:rPr sz="956" b="0" dirty="0" err="1">
                <a:solidFill>
                  <a:srgbClr val="374151"/>
                </a:solidFill>
                <a:latin typeface="Noto Sans"/>
              </a:rPr>
              <a:t>пульс</a:t>
            </a:r>
            <a:endParaRPr sz="956" b="0" dirty="0">
              <a:solidFill>
                <a:srgbClr val="374151"/>
              </a:solidFill>
              <a:latin typeface="Noto Sans"/>
            </a:endParaRP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95327" y="4522470"/>
            <a:ext cx="133346" cy="8001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04872" y="4448175"/>
            <a:ext cx="1447763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 dirty="0" err="1">
                <a:solidFill>
                  <a:srgbClr val="374151"/>
                </a:solidFill>
                <a:latin typeface="Noto Sans"/>
              </a:rPr>
              <a:t>Вредные</a:t>
            </a:r>
            <a:r>
              <a:rPr sz="956" b="0" dirty="0">
                <a:solidFill>
                  <a:srgbClr val="374151"/>
                </a:solidFill>
                <a:latin typeface="Noto Sans"/>
              </a:rPr>
              <a:t> </a:t>
            </a:r>
            <a:r>
              <a:rPr sz="956" b="0" dirty="0" err="1">
                <a:solidFill>
                  <a:srgbClr val="374151"/>
                </a:solidFill>
                <a:latin typeface="Noto Sans"/>
              </a:rPr>
              <a:t>привычки</a:t>
            </a:r>
            <a:endParaRPr sz="956" b="0" dirty="0">
              <a:solidFill>
                <a:srgbClr val="374151"/>
              </a:solidFill>
              <a:latin typeface="Noto Sans"/>
            </a:endParaRP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819429" y="3317206"/>
            <a:ext cx="457188" cy="318836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4762380" y="2047874"/>
            <a:ext cx="2666933" cy="2857500"/>
          </a:xfrm>
          <a:prstGeom prst="roundRect">
            <a:avLst>
              <a:gd name="adj" fmla="val 11428"/>
            </a:avLst>
          </a:prstGeom>
          <a:gradFill rotWithShape="1">
            <a:gsLst>
              <a:gs pos="0">
                <a:srgbClr val="EFF6FF"/>
              </a:gs>
              <a:gs pos="100000">
                <a:srgbClr val="FFFFFF"/>
              </a:gs>
            </a:gsLst>
            <a:lin ang="8100000" scaled="0"/>
          </a:gradFill>
          <a:ln w="33020"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9" name="Rounded Rectangle 18"/>
          <p:cNvSpPr/>
          <p:nvPr/>
        </p:nvSpPr>
        <p:spPr>
          <a:xfrm>
            <a:off x="5791055" y="2314575"/>
            <a:ext cx="609584" cy="609600"/>
          </a:xfrm>
          <a:prstGeom prst="roundRect">
            <a:avLst>
              <a:gd name="adj" fmla="val 31246875"/>
            </a:avLst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924401" y="2498177"/>
            <a:ext cx="342891" cy="24239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990975" y="3076574"/>
            <a:ext cx="2209744" cy="3429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780"/>
              </a:spcAft>
            </a:pPr>
            <a:r>
              <a:rPr sz="1435" b="1" dirty="0" err="1">
                <a:solidFill>
                  <a:srgbClr val="0D47A1"/>
                </a:solidFill>
                <a:latin typeface="Noto Sans"/>
              </a:rPr>
              <a:t>Обработка</a:t>
            </a:r>
            <a:endParaRPr sz="1435" b="1" dirty="0">
              <a:solidFill>
                <a:srgbClr val="0D47A1"/>
              </a:solidFill>
              <a:latin typeface="Noto Sans"/>
            </a:endParaRP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990975" y="3608070"/>
            <a:ext cx="133346" cy="8001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200519" y="3533774"/>
            <a:ext cx="1771605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 dirty="0" err="1">
                <a:solidFill>
                  <a:srgbClr val="374151"/>
                </a:solidFill>
                <a:latin typeface="Noto Sans"/>
              </a:rPr>
              <a:t>Статистические</a:t>
            </a:r>
            <a:r>
              <a:rPr sz="956" b="0" dirty="0">
                <a:solidFill>
                  <a:srgbClr val="374151"/>
                </a:solidFill>
                <a:latin typeface="Noto Sans"/>
              </a:rPr>
              <a:t> </a:t>
            </a:r>
            <a:r>
              <a:rPr sz="956" b="0" dirty="0" err="1">
                <a:solidFill>
                  <a:srgbClr val="374151"/>
                </a:solidFill>
                <a:latin typeface="Noto Sans"/>
              </a:rPr>
              <a:t>модели</a:t>
            </a:r>
            <a:endParaRPr sz="956" b="0" dirty="0">
              <a:solidFill>
                <a:srgbClr val="374151"/>
              </a:solidFill>
              <a:latin typeface="Noto Sans"/>
            </a:endParaRP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990975" y="3912870"/>
            <a:ext cx="133346" cy="8001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200519" y="3838574"/>
            <a:ext cx="1038199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 dirty="0" err="1">
                <a:solidFill>
                  <a:srgbClr val="374151"/>
                </a:solidFill>
                <a:latin typeface="Noto Sans"/>
              </a:rPr>
              <a:t>Риск-факторы</a:t>
            </a:r>
            <a:endParaRPr sz="956" b="0" dirty="0">
              <a:solidFill>
                <a:srgbClr val="374151"/>
              </a:solidFill>
              <a:latin typeface="Noto Sans"/>
            </a:endParaRPr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990975" y="4217670"/>
            <a:ext cx="133346" cy="8001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200519" y="4143375"/>
            <a:ext cx="1133446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 dirty="0" err="1">
                <a:solidFill>
                  <a:srgbClr val="374151"/>
                </a:solidFill>
                <a:latin typeface="Noto Sans"/>
              </a:rPr>
              <a:t>Коэффициенты</a:t>
            </a:r>
            <a:endParaRPr sz="956" b="0" dirty="0">
              <a:solidFill>
                <a:srgbClr val="374151"/>
              </a:solidFill>
              <a:latin typeface="Noto Sans"/>
            </a:endParaRPr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990975" y="4522470"/>
            <a:ext cx="133346" cy="8001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200519" y="4448175"/>
            <a:ext cx="1323941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 dirty="0" err="1">
                <a:solidFill>
                  <a:srgbClr val="374151"/>
                </a:solidFill>
                <a:latin typeface="Noto Sans"/>
              </a:rPr>
              <a:t>Формулы</a:t>
            </a:r>
            <a:r>
              <a:rPr sz="956" b="0" dirty="0">
                <a:solidFill>
                  <a:srgbClr val="374151"/>
                </a:solidFill>
                <a:latin typeface="Noto Sans"/>
              </a:rPr>
              <a:t> </a:t>
            </a:r>
            <a:r>
              <a:rPr sz="956" b="0" dirty="0" err="1">
                <a:solidFill>
                  <a:srgbClr val="374151"/>
                </a:solidFill>
                <a:latin typeface="Noto Sans"/>
              </a:rPr>
              <a:t>расчета</a:t>
            </a:r>
            <a:endParaRPr sz="956" b="0" dirty="0">
              <a:solidFill>
                <a:srgbClr val="374151"/>
              </a:solidFill>
              <a:latin typeface="Noto Sans"/>
            </a:endParaRPr>
          </a:p>
        </p:txBody>
      </p:sp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915077" y="3317206"/>
            <a:ext cx="457188" cy="318836"/>
          </a:xfrm>
          <a:prstGeom prst="rect">
            <a:avLst/>
          </a:prstGeom>
        </p:spPr>
      </p:pic>
      <p:sp>
        <p:nvSpPr>
          <p:cNvPr id="31" name="Rounded Rectangle 30"/>
          <p:cNvSpPr/>
          <p:nvPr/>
        </p:nvSpPr>
        <p:spPr>
          <a:xfrm>
            <a:off x="8858028" y="2047874"/>
            <a:ext cx="2666933" cy="2857500"/>
          </a:xfrm>
          <a:prstGeom prst="roundRect">
            <a:avLst>
              <a:gd name="adj" fmla="val 11428"/>
            </a:avLst>
          </a:prstGeom>
          <a:gradFill rotWithShape="1">
            <a:gsLst>
              <a:gs pos="0">
                <a:srgbClr val="EFF6FF"/>
              </a:gs>
              <a:gs pos="100000">
                <a:srgbClr val="FFFFFF"/>
              </a:gs>
            </a:gsLst>
            <a:lin ang="8100000" scaled="0"/>
          </a:gradFill>
          <a:ln w="33020">
            <a:solidFill>
              <a:srgbClr val="4FC3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2" name="Rounded Rectangle 31"/>
          <p:cNvSpPr/>
          <p:nvPr/>
        </p:nvSpPr>
        <p:spPr>
          <a:xfrm>
            <a:off x="9886702" y="2314575"/>
            <a:ext cx="609584" cy="609600"/>
          </a:xfrm>
          <a:prstGeom prst="roundRect">
            <a:avLst>
              <a:gd name="adj" fmla="val 31246875"/>
            </a:avLst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0020049" y="2486353"/>
            <a:ext cx="342891" cy="266043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9086622" y="3076574"/>
            <a:ext cx="2209744" cy="3429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780"/>
              </a:spcAft>
            </a:pPr>
            <a:r>
              <a:rPr sz="1435" b="1" dirty="0" err="1">
                <a:solidFill>
                  <a:srgbClr val="0D47A1"/>
                </a:solidFill>
                <a:latin typeface="Noto Sans"/>
              </a:rPr>
              <a:t>Результат</a:t>
            </a:r>
            <a:endParaRPr sz="1435" b="1" dirty="0">
              <a:solidFill>
                <a:srgbClr val="0D47A1"/>
              </a:solidFill>
              <a:latin typeface="Noto Sans"/>
            </a:endParaRPr>
          </a:p>
        </p:txBody>
      </p:sp>
      <p:pic>
        <p:nvPicPr>
          <p:cNvPr id="35" name="Picture 34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086622" y="3608070"/>
            <a:ext cx="133346" cy="8001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9296167" y="3533774"/>
            <a:ext cx="1190595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 dirty="0" err="1">
                <a:solidFill>
                  <a:srgbClr val="374151"/>
                </a:solidFill>
                <a:latin typeface="Noto Sans"/>
              </a:rPr>
              <a:t>Вероятность</a:t>
            </a:r>
            <a:r>
              <a:rPr sz="956" b="0" dirty="0">
                <a:solidFill>
                  <a:srgbClr val="374151"/>
                </a:solidFill>
                <a:latin typeface="Noto Sans"/>
              </a:rPr>
              <a:t> (%)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086622" y="3912870"/>
            <a:ext cx="133346" cy="8001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9296167" y="3838574"/>
            <a:ext cx="1085822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 dirty="0" err="1">
                <a:solidFill>
                  <a:srgbClr val="374151"/>
                </a:solidFill>
                <a:latin typeface="Noto Sans"/>
              </a:rPr>
              <a:t>Уровень</a:t>
            </a:r>
            <a:r>
              <a:rPr sz="956" b="0" dirty="0">
                <a:solidFill>
                  <a:srgbClr val="374151"/>
                </a:solidFill>
                <a:latin typeface="Noto Sans"/>
              </a:rPr>
              <a:t> </a:t>
            </a:r>
            <a:r>
              <a:rPr sz="956" b="0" dirty="0" err="1">
                <a:solidFill>
                  <a:srgbClr val="374151"/>
                </a:solidFill>
                <a:latin typeface="Noto Sans"/>
              </a:rPr>
              <a:t>риска</a:t>
            </a:r>
            <a:endParaRPr sz="956" b="0" dirty="0">
              <a:solidFill>
                <a:srgbClr val="374151"/>
              </a:solidFill>
              <a:latin typeface="Noto Sans"/>
            </a:endParaRPr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086622" y="4217670"/>
            <a:ext cx="133346" cy="8001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9296167" y="4143375"/>
            <a:ext cx="1047723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 dirty="0" err="1">
                <a:solidFill>
                  <a:srgbClr val="374151"/>
                </a:solidFill>
                <a:latin typeface="Noto Sans"/>
              </a:rPr>
              <a:t>Визуализация</a:t>
            </a:r>
            <a:endParaRPr sz="956" b="0" dirty="0">
              <a:solidFill>
                <a:srgbClr val="374151"/>
              </a:solidFill>
              <a:latin typeface="Noto Sans"/>
            </a:endParaRPr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086622" y="4522470"/>
            <a:ext cx="133346" cy="8001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9296167" y="4448175"/>
            <a:ext cx="1095347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 dirty="0" err="1">
                <a:solidFill>
                  <a:srgbClr val="374151"/>
                </a:solidFill>
                <a:latin typeface="Noto Sans"/>
              </a:rPr>
              <a:t>Рекомендации</a:t>
            </a:r>
            <a:endParaRPr sz="956" b="0" dirty="0">
              <a:solidFill>
                <a:srgbClr val="374151"/>
              </a:solidFill>
              <a:latin typeface="Noto Sans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0" y="6095999"/>
            <a:ext cx="12191695" cy="761999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666733" y="6363942"/>
            <a:ext cx="266693" cy="226115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085822" y="6343650"/>
            <a:ext cx="6914977" cy="2571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076" b="0" dirty="0" err="1">
                <a:solidFill>
                  <a:srgbClr val="4B5563"/>
                </a:solidFill>
                <a:latin typeface="Noto Sans"/>
              </a:rPr>
              <a:t>Алгоритм</a:t>
            </a:r>
            <a:r>
              <a:rPr sz="1076" b="0" dirty="0">
                <a:solidFill>
                  <a:srgbClr val="4B5563"/>
                </a:solidFill>
                <a:latin typeface="Noto Sans"/>
              </a:rPr>
              <a:t> </a:t>
            </a:r>
            <a:r>
              <a:rPr sz="1076" b="0" dirty="0" err="1">
                <a:solidFill>
                  <a:srgbClr val="4B5563"/>
                </a:solidFill>
                <a:latin typeface="Noto Sans"/>
              </a:rPr>
              <a:t>основан</a:t>
            </a:r>
            <a:r>
              <a:rPr sz="1076" b="0" dirty="0">
                <a:solidFill>
                  <a:srgbClr val="4B5563"/>
                </a:solidFill>
                <a:latin typeface="Noto Sans"/>
              </a:rPr>
              <a:t> </a:t>
            </a:r>
            <a:r>
              <a:rPr sz="1076" b="0" dirty="0" err="1">
                <a:solidFill>
                  <a:srgbClr val="4B5563"/>
                </a:solidFill>
                <a:latin typeface="Noto Sans"/>
              </a:rPr>
              <a:t>на</a:t>
            </a:r>
            <a:r>
              <a:rPr sz="1076" b="0" dirty="0">
                <a:solidFill>
                  <a:srgbClr val="4B5563"/>
                </a:solidFill>
                <a:latin typeface="Noto Sans"/>
              </a:rPr>
              <a:t> </a:t>
            </a:r>
            <a:r>
              <a:rPr sz="1076" b="0" dirty="0" err="1">
                <a:solidFill>
                  <a:srgbClr val="4B5563"/>
                </a:solidFill>
                <a:latin typeface="Noto Sans"/>
              </a:rPr>
              <a:t>эпидемиологических</a:t>
            </a:r>
            <a:r>
              <a:rPr sz="1076" b="0" dirty="0">
                <a:solidFill>
                  <a:srgbClr val="4B5563"/>
                </a:solidFill>
                <a:latin typeface="Noto Sans"/>
              </a:rPr>
              <a:t> </a:t>
            </a:r>
            <a:r>
              <a:rPr sz="1076" b="0" dirty="0" err="1">
                <a:solidFill>
                  <a:srgbClr val="4B5563"/>
                </a:solidFill>
                <a:latin typeface="Noto Sans"/>
              </a:rPr>
              <a:t>данных</a:t>
            </a:r>
            <a:r>
              <a:rPr sz="1076" b="0" dirty="0">
                <a:solidFill>
                  <a:srgbClr val="4B5563"/>
                </a:solidFill>
                <a:latin typeface="Noto Sans"/>
              </a:rPr>
              <a:t> и </a:t>
            </a:r>
            <a:r>
              <a:rPr sz="1076" b="0" dirty="0" err="1">
                <a:solidFill>
                  <a:srgbClr val="4B5563"/>
                </a:solidFill>
                <a:latin typeface="Noto Sans"/>
              </a:rPr>
              <a:t>медицинских</a:t>
            </a:r>
            <a:r>
              <a:rPr sz="1076" b="0" dirty="0">
                <a:solidFill>
                  <a:srgbClr val="4B5563"/>
                </a:solidFill>
                <a:latin typeface="Noto Sans"/>
              </a:rPr>
              <a:t> </a:t>
            </a:r>
            <a:r>
              <a:rPr sz="1076" b="0" dirty="0" err="1">
                <a:solidFill>
                  <a:srgbClr val="4B5563"/>
                </a:solidFill>
                <a:latin typeface="Noto Sans"/>
              </a:rPr>
              <a:t>исследованиях</a:t>
            </a:r>
            <a:endParaRPr sz="1076" b="0" dirty="0">
              <a:solidFill>
                <a:srgbClr val="4B5563"/>
              </a:solidFill>
              <a:latin typeface="Noto San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5725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666733" y="282773"/>
            <a:ext cx="380990" cy="2917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00119" y="146079"/>
            <a:ext cx="4095929" cy="56509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392" b="1" noProof="1">
                <a:solidFill>
                  <a:srgbClr val="FFFFFF"/>
                </a:solidFill>
                <a:latin typeface="Noto Sans"/>
              </a:rPr>
              <a:t>Интерфейс приложения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66187" y="978257"/>
            <a:ext cx="3790855" cy="1419225"/>
          </a:xfrm>
          <a:prstGeom prst="roundRect">
            <a:avLst>
              <a:gd name="adj" fmla="val 15475"/>
            </a:avLst>
          </a:prstGeom>
          <a:gradFill rotWithShape="1">
            <a:gsLst>
              <a:gs pos="0">
                <a:srgbClr val="EFF6FF"/>
              </a:gs>
              <a:gs pos="100000">
                <a:srgbClr val="FFFFFF"/>
              </a:gs>
            </a:gsLst>
            <a:lin ang="108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7" name="Round Same Side Corner Rectangle 6"/>
          <p:cNvSpPr/>
          <p:nvPr/>
        </p:nvSpPr>
        <p:spPr>
          <a:xfrm rot="16200000">
            <a:off x="7222615" y="1621829"/>
            <a:ext cx="1419225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8" name="Rounded Rectangle 7"/>
          <p:cNvSpPr/>
          <p:nvPr/>
        </p:nvSpPr>
        <p:spPr>
          <a:xfrm>
            <a:off x="8094781" y="1168756"/>
            <a:ext cx="457188" cy="457200"/>
          </a:xfrm>
          <a:prstGeom prst="roundRect">
            <a:avLst>
              <a:gd name="adj" fmla="val 33333"/>
            </a:avLst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209079" y="1321633"/>
            <a:ext cx="228594" cy="15144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704366" y="1147761"/>
            <a:ext cx="1308307" cy="35631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260"/>
              </a:spcAft>
            </a:pPr>
            <a:r>
              <a:rPr lang="en-US" sz="1315" b="1" noProof="1">
                <a:solidFill>
                  <a:srgbClr val="0D47A1"/>
                </a:solidFill>
                <a:latin typeface="Noto Sans"/>
              </a:rPr>
              <a:t>Ввод данных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04366" y="1615263"/>
            <a:ext cx="2762180" cy="497637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56" b="0" noProof="1">
                <a:solidFill>
                  <a:srgbClr val="4B5563"/>
                </a:solidFill>
                <a:latin typeface="Noto Sans"/>
              </a:rPr>
              <a:t>Удобная форма для заполнения медицинских показателей и привычек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66187" y="2587982"/>
            <a:ext cx="3790855" cy="1419225"/>
          </a:xfrm>
          <a:prstGeom prst="roundRect">
            <a:avLst>
              <a:gd name="adj" fmla="val 16107"/>
            </a:avLst>
          </a:prstGeom>
          <a:gradFill rotWithShape="1">
            <a:gsLst>
              <a:gs pos="0">
                <a:srgbClr val="EFF6FF"/>
              </a:gs>
              <a:gs pos="100000">
                <a:srgbClr val="FFFFFF"/>
              </a:gs>
            </a:gsLst>
            <a:lin ang="108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3" name="Round Same Side Corner Rectangle 12"/>
          <p:cNvSpPr/>
          <p:nvPr/>
        </p:nvSpPr>
        <p:spPr>
          <a:xfrm rot="16200000">
            <a:off x="7222615" y="3231554"/>
            <a:ext cx="1419225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4" name="Rounded Rectangle 13"/>
          <p:cNvSpPr/>
          <p:nvPr/>
        </p:nvSpPr>
        <p:spPr>
          <a:xfrm>
            <a:off x="8094781" y="2778481"/>
            <a:ext cx="457188" cy="457200"/>
          </a:xfrm>
          <a:prstGeom prst="roundRect">
            <a:avLst>
              <a:gd name="adj" fmla="val 33333"/>
            </a:avLst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09079" y="2918499"/>
            <a:ext cx="228594" cy="1771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704366" y="2757486"/>
            <a:ext cx="1941494" cy="35631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260"/>
              </a:spcAft>
            </a:pPr>
            <a:r>
              <a:rPr lang="en-US" sz="1315" b="1" noProof="1">
                <a:solidFill>
                  <a:srgbClr val="0D47A1"/>
                </a:solidFill>
                <a:latin typeface="Noto Sans"/>
              </a:rPr>
              <a:t>Мгновенный расчет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04366" y="3224988"/>
            <a:ext cx="2762180" cy="497637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56" b="0" noProof="1">
                <a:solidFill>
                  <a:srgbClr val="4B5563"/>
                </a:solidFill>
                <a:latin typeface="Noto Sans"/>
              </a:rPr>
              <a:t>Быстрый анализ данных и вычисление вероятности заболеваний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66187" y="4197706"/>
            <a:ext cx="3790855" cy="1190625"/>
          </a:xfrm>
          <a:prstGeom prst="roundRect">
            <a:avLst>
              <a:gd name="adj" fmla="val 19200"/>
            </a:avLst>
          </a:prstGeom>
          <a:gradFill rotWithShape="1">
            <a:gsLst>
              <a:gs pos="0">
                <a:srgbClr val="EFF6FF"/>
              </a:gs>
              <a:gs pos="100000">
                <a:srgbClr val="FFFFFF"/>
              </a:gs>
            </a:gsLst>
            <a:lin ang="108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9" name="Round Same Side Corner Rectangle 18"/>
          <p:cNvSpPr/>
          <p:nvPr/>
        </p:nvSpPr>
        <p:spPr>
          <a:xfrm rot="16200000">
            <a:off x="7336915" y="4726978"/>
            <a:ext cx="1190625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20" name="Rounded Rectangle 19"/>
          <p:cNvSpPr/>
          <p:nvPr/>
        </p:nvSpPr>
        <p:spPr>
          <a:xfrm>
            <a:off x="8094781" y="4388207"/>
            <a:ext cx="457188" cy="457200"/>
          </a:xfrm>
          <a:prstGeom prst="roundRect">
            <a:avLst>
              <a:gd name="adj" fmla="val 33333"/>
            </a:avLst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209079" y="4545369"/>
            <a:ext cx="228594" cy="14287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704366" y="4367212"/>
            <a:ext cx="1438151" cy="35631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260"/>
              </a:spcAft>
            </a:pPr>
            <a:r>
              <a:rPr lang="en-US" sz="1315" b="1" noProof="1">
                <a:solidFill>
                  <a:srgbClr val="0D47A1"/>
                </a:solidFill>
                <a:latin typeface="Noto Sans"/>
              </a:rPr>
              <a:t>Визуализация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04366" y="4720413"/>
            <a:ext cx="2762180" cy="497637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56" b="0" noProof="1">
                <a:solidFill>
                  <a:srgbClr val="4B5563"/>
                </a:solidFill>
                <a:latin typeface="Noto Sans"/>
              </a:rPr>
              <a:t>Интуитивные графики и диаграммы для наглядного отображения рисков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866187" y="5578832"/>
            <a:ext cx="3790855" cy="1190625"/>
          </a:xfrm>
          <a:prstGeom prst="roundRect">
            <a:avLst>
              <a:gd name="adj" fmla="val 19200"/>
            </a:avLst>
          </a:prstGeom>
          <a:gradFill rotWithShape="1">
            <a:gsLst>
              <a:gs pos="0">
                <a:srgbClr val="EFF6FF"/>
              </a:gs>
              <a:gs pos="100000">
                <a:srgbClr val="FFFFFF"/>
              </a:gs>
            </a:gsLst>
            <a:lin ang="108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25" name="Round Same Side Corner Rectangle 24"/>
          <p:cNvSpPr/>
          <p:nvPr/>
        </p:nvSpPr>
        <p:spPr>
          <a:xfrm rot="16200000">
            <a:off x="7336915" y="6108104"/>
            <a:ext cx="1190625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26" name="Rounded Rectangle 25"/>
          <p:cNvSpPr/>
          <p:nvPr/>
        </p:nvSpPr>
        <p:spPr>
          <a:xfrm>
            <a:off x="8094781" y="5769331"/>
            <a:ext cx="457188" cy="457200"/>
          </a:xfrm>
          <a:prstGeom prst="roundRect">
            <a:avLst>
              <a:gd name="adj" fmla="val 33333"/>
            </a:avLst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8209079" y="5900776"/>
            <a:ext cx="228594" cy="194309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704366" y="5748336"/>
            <a:ext cx="1489447" cy="35631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260"/>
              </a:spcAft>
            </a:pPr>
            <a:r>
              <a:rPr lang="en-US" sz="1315" b="1" noProof="1">
                <a:solidFill>
                  <a:srgbClr val="0D47A1"/>
                </a:solidFill>
                <a:latin typeface="Noto Sans"/>
              </a:rPr>
              <a:t>Рекомендации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04366" y="6101539"/>
            <a:ext cx="2762180" cy="497637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56" b="0" noProof="1">
                <a:solidFill>
                  <a:srgbClr val="4B5563"/>
                </a:solidFill>
                <a:latin typeface="Noto Sans"/>
              </a:rPr>
              <a:t>Персональные советы по снижению риска развития заболеваний</a:t>
            </a:r>
          </a:p>
        </p:txBody>
      </p:sp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39311C09-946A-F4F7-095C-0C615EA0856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3335" y="1061209"/>
            <a:ext cx="5683334" cy="5289148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5725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666733" y="282773"/>
            <a:ext cx="380990" cy="2917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00119" y="142875"/>
            <a:ext cx="4257568" cy="5715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2392" b="1" dirty="0" err="1">
                <a:solidFill>
                  <a:srgbClr val="FFFFFF"/>
                </a:solidFill>
                <a:latin typeface="Noto Sans"/>
              </a:rPr>
              <a:t>Результаты</a:t>
            </a:r>
            <a:r>
              <a:rPr sz="2392" b="1" dirty="0">
                <a:solidFill>
                  <a:srgbClr val="FFFFFF"/>
                </a:solidFill>
                <a:latin typeface="Noto Sans"/>
              </a:rPr>
              <a:t> и </a:t>
            </a:r>
            <a:r>
              <a:rPr sz="2392" b="1" dirty="0" err="1">
                <a:solidFill>
                  <a:srgbClr val="FFFFFF"/>
                </a:solidFill>
                <a:latin typeface="Noto Sans"/>
              </a:rPr>
              <a:t>выводы</a:t>
            </a:r>
            <a:endParaRPr sz="2392" b="1" dirty="0">
              <a:solidFill>
                <a:srgbClr val="FFFFFF"/>
              </a:solidFill>
              <a:latin typeface="Noto Sans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66733" y="1885950"/>
            <a:ext cx="76198" cy="380999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895327" y="1863506"/>
            <a:ext cx="1624099" cy="42588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74" b="1" dirty="0">
                <a:solidFill>
                  <a:srgbClr val="0D47A1"/>
                </a:solidFill>
                <a:latin typeface="Noto Sans"/>
              </a:rPr>
              <a:t>Особенности</a:t>
            </a:r>
            <a:endParaRPr sz="1674" b="1" dirty="0">
              <a:solidFill>
                <a:srgbClr val="0D47A1"/>
              </a:solidFill>
              <a:latin typeface="Noto San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66733" y="2505074"/>
            <a:ext cx="5371965" cy="933449"/>
          </a:xfrm>
          <a:prstGeom prst="roundRect">
            <a:avLst>
              <a:gd name="adj" fmla="val 24489"/>
            </a:avLst>
          </a:prstGeom>
          <a:gradFill rotWithShape="1">
            <a:gsLst>
              <a:gs pos="0">
                <a:srgbClr val="EFF6FF"/>
              </a:gs>
              <a:gs pos="100000">
                <a:srgbClr val="FFFFFF"/>
              </a:gs>
            </a:gsLst>
            <a:lin ang="108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8" name="Round Same Side Corner Rectangle 7"/>
          <p:cNvSpPr/>
          <p:nvPr/>
        </p:nvSpPr>
        <p:spPr>
          <a:xfrm rot="16200000">
            <a:off x="266049" y="2905758"/>
            <a:ext cx="933449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9" name="Rounded Rectangle 8"/>
          <p:cNvSpPr/>
          <p:nvPr/>
        </p:nvSpPr>
        <p:spPr>
          <a:xfrm>
            <a:off x="895327" y="2705099"/>
            <a:ext cx="533386" cy="533399"/>
          </a:xfrm>
          <a:prstGeom prst="roundRect">
            <a:avLst>
              <a:gd name="adj" fmla="val 35710714"/>
            </a:avLst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28674" y="2858742"/>
            <a:ext cx="266693" cy="22611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619209" y="2695575"/>
            <a:ext cx="3876578" cy="2857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260"/>
              </a:spcAft>
            </a:pPr>
            <a:r>
              <a:rPr sz="1196" b="1" dirty="0" err="1">
                <a:solidFill>
                  <a:srgbClr val="0D47A1"/>
                </a:solidFill>
                <a:latin typeface="Noto Sans"/>
              </a:rPr>
              <a:t>Корректная</a:t>
            </a:r>
            <a:r>
              <a:rPr sz="1196" b="1" dirty="0">
                <a:solidFill>
                  <a:srgbClr val="0D47A1"/>
                </a:solidFill>
                <a:latin typeface="Noto Sans"/>
              </a:rPr>
              <a:t> </a:t>
            </a:r>
            <a:r>
              <a:rPr sz="1196" b="1" dirty="0" err="1">
                <a:solidFill>
                  <a:srgbClr val="0D47A1"/>
                </a:solidFill>
                <a:latin typeface="Noto Sans"/>
              </a:rPr>
              <a:t>работа</a:t>
            </a:r>
            <a:r>
              <a:rPr sz="1196" b="1" dirty="0">
                <a:solidFill>
                  <a:srgbClr val="0D47A1"/>
                </a:solidFill>
                <a:latin typeface="Noto Sans"/>
              </a:rPr>
              <a:t> </a:t>
            </a:r>
            <a:r>
              <a:rPr sz="1196" b="1" dirty="0" err="1">
                <a:solidFill>
                  <a:srgbClr val="0D47A1"/>
                </a:solidFill>
                <a:latin typeface="Noto Sans"/>
              </a:rPr>
              <a:t>алгоритмов</a:t>
            </a:r>
            <a:endParaRPr sz="1196" b="1" dirty="0">
              <a:solidFill>
                <a:srgbClr val="0D47A1"/>
              </a:solidFill>
              <a:latin typeface="Noto San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619209" y="3019424"/>
            <a:ext cx="3876578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 dirty="0" err="1">
                <a:solidFill>
                  <a:srgbClr val="4B5563"/>
                </a:solidFill>
                <a:latin typeface="Noto Sans"/>
              </a:rPr>
              <a:t>Точный</a:t>
            </a:r>
            <a:r>
              <a:rPr sz="956" b="0" dirty="0">
                <a:solidFill>
                  <a:srgbClr val="4B5563"/>
                </a:solidFill>
                <a:latin typeface="Noto Sans"/>
              </a:rPr>
              <a:t> </a:t>
            </a:r>
            <a:r>
              <a:rPr sz="956" b="0" dirty="0" err="1">
                <a:solidFill>
                  <a:srgbClr val="4B5563"/>
                </a:solidFill>
                <a:latin typeface="Noto Sans"/>
              </a:rPr>
              <a:t>расчет</a:t>
            </a:r>
            <a:r>
              <a:rPr sz="956" b="0" dirty="0">
                <a:solidFill>
                  <a:srgbClr val="4B5563"/>
                </a:solidFill>
                <a:latin typeface="Noto Sans"/>
              </a:rPr>
              <a:t> </a:t>
            </a:r>
            <a:r>
              <a:rPr sz="956" b="0" dirty="0" err="1">
                <a:solidFill>
                  <a:srgbClr val="4B5563"/>
                </a:solidFill>
                <a:latin typeface="Noto Sans"/>
              </a:rPr>
              <a:t>вероятности</a:t>
            </a:r>
            <a:r>
              <a:rPr sz="956" b="0" dirty="0">
                <a:solidFill>
                  <a:srgbClr val="4B5563"/>
                </a:solidFill>
                <a:latin typeface="Noto Sans"/>
              </a:rPr>
              <a:t> </a:t>
            </a:r>
            <a:r>
              <a:rPr sz="956" b="0" dirty="0" err="1">
                <a:solidFill>
                  <a:srgbClr val="4B5563"/>
                </a:solidFill>
                <a:latin typeface="Noto Sans"/>
              </a:rPr>
              <a:t>для</a:t>
            </a:r>
            <a:r>
              <a:rPr sz="956" b="0" dirty="0">
                <a:solidFill>
                  <a:srgbClr val="4B5563"/>
                </a:solidFill>
                <a:latin typeface="Noto Sans"/>
              </a:rPr>
              <a:t> </a:t>
            </a:r>
            <a:r>
              <a:rPr sz="956" b="0" dirty="0" err="1">
                <a:solidFill>
                  <a:srgbClr val="4B5563"/>
                </a:solidFill>
                <a:latin typeface="Noto Sans"/>
              </a:rPr>
              <a:t>всех</a:t>
            </a:r>
            <a:r>
              <a:rPr sz="956" b="0" dirty="0">
                <a:solidFill>
                  <a:srgbClr val="4B5563"/>
                </a:solidFill>
                <a:latin typeface="Noto Sans"/>
              </a:rPr>
              <a:t> 5 </a:t>
            </a:r>
            <a:r>
              <a:rPr sz="956" b="0" dirty="0" err="1">
                <a:solidFill>
                  <a:srgbClr val="4B5563"/>
                </a:solidFill>
                <a:latin typeface="Noto Sans"/>
              </a:rPr>
              <a:t>заболеваний</a:t>
            </a:r>
            <a:endParaRPr sz="956" b="0" dirty="0">
              <a:solidFill>
                <a:srgbClr val="4B5563"/>
              </a:solidFill>
              <a:latin typeface="Noto Sans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66733" y="3590924"/>
            <a:ext cx="5371965" cy="1162050"/>
          </a:xfrm>
          <a:prstGeom prst="roundRect">
            <a:avLst>
              <a:gd name="adj" fmla="val 19672"/>
            </a:avLst>
          </a:prstGeom>
          <a:gradFill rotWithShape="1">
            <a:gsLst>
              <a:gs pos="0">
                <a:srgbClr val="EFF6FF"/>
              </a:gs>
              <a:gs pos="100000">
                <a:srgbClr val="FFFFFF"/>
              </a:gs>
            </a:gsLst>
            <a:lin ang="108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4" name="Round Same Side Corner Rectangle 13"/>
          <p:cNvSpPr/>
          <p:nvPr/>
        </p:nvSpPr>
        <p:spPr>
          <a:xfrm rot="16200000">
            <a:off x="151748" y="4105909"/>
            <a:ext cx="116205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5" name="Rounded Rectangle 14"/>
          <p:cNvSpPr/>
          <p:nvPr/>
        </p:nvSpPr>
        <p:spPr>
          <a:xfrm>
            <a:off x="895327" y="3905249"/>
            <a:ext cx="533386" cy="533399"/>
          </a:xfrm>
          <a:prstGeom prst="roundRect">
            <a:avLst>
              <a:gd name="adj" fmla="val 35710714"/>
            </a:avLst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52486" y="4038599"/>
            <a:ext cx="219069" cy="26669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619209" y="3781424"/>
            <a:ext cx="4228994" cy="2857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260"/>
              </a:spcAft>
            </a:pPr>
            <a:r>
              <a:rPr sz="1196" b="1" dirty="0" err="1">
                <a:solidFill>
                  <a:srgbClr val="0D47A1"/>
                </a:solidFill>
                <a:latin typeface="Noto Sans"/>
              </a:rPr>
              <a:t>Удобный</a:t>
            </a:r>
            <a:r>
              <a:rPr sz="1196" b="1" dirty="0">
                <a:solidFill>
                  <a:srgbClr val="0D47A1"/>
                </a:solidFill>
                <a:latin typeface="Noto Sans"/>
              </a:rPr>
              <a:t> </a:t>
            </a:r>
            <a:r>
              <a:rPr sz="1196" b="1" dirty="0" err="1">
                <a:solidFill>
                  <a:srgbClr val="0D47A1"/>
                </a:solidFill>
                <a:latin typeface="Noto Sans"/>
              </a:rPr>
              <a:t>интерфейс</a:t>
            </a:r>
            <a:endParaRPr sz="1196" b="1" dirty="0">
              <a:solidFill>
                <a:srgbClr val="0D47A1"/>
              </a:solidFill>
              <a:latin typeface="Noto San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619209" y="4187648"/>
            <a:ext cx="4228994" cy="292452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56" b="0" noProof="1">
                <a:solidFill>
                  <a:srgbClr val="4B5563"/>
                </a:solidFill>
                <a:latin typeface="Noto Sans"/>
              </a:rPr>
              <a:t>Интуитивно</a:t>
            </a:r>
            <a:r>
              <a:rPr sz="956" b="0" dirty="0">
                <a:solidFill>
                  <a:srgbClr val="4B5563"/>
                </a:solidFill>
                <a:latin typeface="Noto Sans"/>
              </a:rPr>
              <a:t> </a:t>
            </a:r>
            <a:r>
              <a:rPr sz="956" b="0" dirty="0" err="1">
                <a:solidFill>
                  <a:srgbClr val="4B5563"/>
                </a:solidFill>
                <a:latin typeface="Noto Sans"/>
              </a:rPr>
              <a:t>понятный</a:t>
            </a:r>
            <a:r>
              <a:rPr sz="956" b="0" dirty="0">
                <a:solidFill>
                  <a:srgbClr val="4B5563"/>
                </a:solidFill>
                <a:latin typeface="Noto Sans"/>
              </a:rPr>
              <a:t> </a:t>
            </a:r>
            <a:r>
              <a:rPr sz="956" b="0" dirty="0" err="1">
                <a:solidFill>
                  <a:srgbClr val="4B5563"/>
                </a:solidFill>
                <a:latin typeface="Noto Sans"/>
              </a:rPr>
              <a:t>дизайн</a:t>
            </a:r>
            <a:r>
              <a:rPr sz="956" b="0" dirty="0">
                <a:solidFill>
                  <a:srgbClr val="4B5563"/>
                </a:solidFill>
                <a:latin typeface="Noto Sans"/>
              </a:rPr>
              <a:t> </a:t>
            </a:r>
            <a:r>
              <a:rPr sz="956" b="0" dirty="0" err="1">
                <a:solidFill>
                  <a:srgbClr val="4B5563"/>
                </a:solidFill>
                <a:latin typeface="Noto Sans"/>
              </a:rPr>
              <a:t>для</a:t>
            </a:r>
            <a:r>
              <a:rPr sz="956" b="0" dirty="0">
                <a:solidFill>
                  <a:srgbClr val="4B5563"/>
                </a:solidFill>
                <a:latin typeface="Noto Sans"/>
              </a:rPr>
              <a:t> </a:t>
            </a:r>
            <a:r>
              <a:rPr sz="956" b="0" dirty="0" err="1">
                <a:solidFill>
                  <a:srgbClr val="4B5563"/>
                </a:solidFill>
                <a:latin typeface="Noto Sans"/>
              </a:rPr>
              <a:t>широкого</a:t>
            </a:r>
            <a:r>
              <a:rPr sz="956" b="0" dirty="0">
                <a:solidFill>
                  <a:srgbClr val="4B5563"/>
                </a:solidFill>
                <a:latin typeface="Noto Sans"/>
              </a:rPr>
              <a:t> </a:t>
            </a:r>
            <a:r>
              <a:rPr sz="956" b="0" dirty="0" err="1">
                <a:solidFill>
                  <a:srgbClr val="4B5563"/>
                </a:solidFill>
                <a:latin typeface="Noto Sans"/>
              </a:rPr>
              <a:t>круга</a:t>
            </a:r>
            <a:r>
              <a:rPr sz="956" b="0" dirty="0">
                <a:solidFill>
                  <a:srgbClr val="4B5563"/>
                </a:solidFill>
                <a:latin typeface="Noto Sans"/>
              </a:rPr>
              <a:t> </a:t>
            </a:r>
            <a:r>
              <a:rPr sz="956" b="0" dirty="0" err="1">
                <a:solidFill>
                  <a:srgbClr val="4B5563"/>
                </a:solidFill>
                <a:latin typeface="Noto Sans"/>
              </a:rPr>
              <a:t>пользователей</a:t>
            </a:r>
            <a:endParaRPr sz="956" b="0" dirty="0">
              <a:solidFill>
                <a:srgbClr val="4B5563"/>
              </a:solidFill>
              <a:latin typeface="Noto Sans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666733" y="4905375"/>
            <a:ext cx="5371965" cy="933449"/>
          </a:xfrm>
          <a:prstGeom prst="roundRect">
            <a:avLst>
              <a:gd name="adj" fmla="val 24489"/>
            </a:avLst>
          </a:prstGeom>
          <a:gradFill rotWithShape="1">
            <a:gsLst>
              <a:gs pos="0">
                <a:srgbClr val="EFF6FF"/>
              </a:gs>
              <a:gs pos="100000">
                <a:srgbClr val="FFFFFF"/>
              </a:gs>
            </a:gsLst>
            <a:lin ang="108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0" name="Round Same Side Corner Rectangle 19"/>
          <p:cNvSpPr/>
          <p:nvPr/>
        </p:nvSpPr>
        <p:spPr>
          <a:xfrm rot="16200000">
            <a:off x="266049" y="5306059"/>
            <a:ext cx="933449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1" name="Rounded Rectangle 20"/>
          <p:cNvSpPr/>
          <p:nvPr/>
        </p:nvSpPr>
        <p:spPr>
          <a:xfrm>
            <a:off x="895327" y="5105400"/>
            <a:ext cx="533386" cy="533399"/>
          </a:xfrm>
          <a:prstGeom prst="roundRect">
            <a:avLst>
              <a:gd name="adj" fmla="val 35710714"/>
            </a:avLst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028674" y="5266289"/>
            <a:ext cx="266693" cy="2116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619209" y="5095874"/>
            <a:ext cx="3905152" cy="2857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260"/>
              </a:spcAft>
            </a:pPr>
            <a:r>
              <a:rPr sz="1196" b="1" dirty="0" err="1">
                <a:solidFill>
                  <a:srgbClr val="0D47A1"/>
                </a:solidFill>
                <a:latin typeface="Noto Sans"/>
              </a:rPr>
              <a:t>Практическая</a:t>
            </a:r>
            <a:r>
              <a:rPr sz="1196" b="1" dirty="0">
                <a:solidFill>
                  <a:srgbClr val="0D47A1"/>
                </a:solidFill>
                <a:latin typeface="Noto Sans"/>
              </a:rPr>
              <a:t> </a:t>
            </a:r>
            <a:r>
              <a:rPr sz="1196" b="1" dirty="0" err="1">
                <a:solidFill>
                  <a:srgbClr val="0D47A1"/>
                </a:solidFill>
                <a:latin typeface="Noto Sans"/>
              </a:rPr>
              <a:t>польза</a:t>
            </a:r>
            <a:endParaRPr sz="1196" b="1" dirty="0">
              <a:solidFill>
                <a:srgbClr val="0D47A1"/>
              </a:solidFill>
              <a:latin typeface="Noto San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619209" y="5419725"/>
            <a:ext cx="3905152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 dirty="0" err="1">
                <a:solidFill>
                  <a:srgbClr val="4B5563"/>
                </a:solidFill>
                <a:latin typeface="Noto Sans"/>
              </a:rPr>
              <a:t>Инструмент</a:t>
            </a:r>
            <a:r>
              <a:rPr sz="956" b="0" dirty="0">
                <a:solidFill>
                  <a:srgbClr val="4B5563"/>
                </a:solidFill>
                <a:latin typeface="Noto Sans"/>
              </a:rPr>
              <a:t> </a:t>
            </a:r>
            <a:r>
              <a:rPr sz="956" b="0" dirty="0" err="1">
                <a:solidFill>
                  <a:srgbClr val="4B5563"/>
                </a:solidFill>
                <a:latin typeface="Noto Sans"/>
              </a:rPr>
              <a:t>для</a:t>
            </a:r>
            <a:r>
              <a:rPr sz="956" b="0" dirty="0">
                <a:solidFill>
                  <a:srgbClr val="4B5563"/>
                </a:solidFill>
                <a:latin typeface="Noto Sans"/>
              </a:rPr>
              <a:t> </a:t>
            </a:r>
            <a:r>
              <a:rPr sz="956" b="0" dirty="0" err="1">
                <a:solidFill>
                  <a:srgbClr val="4B5563"/>
                </a:solidFill>
                <a:latin typeface="Noto Sans"/>
              </a:rPr>
              <a:t>ранней</a:t>
            </a:r>
            <a:r>
              <a:rPr sz="956" b="0" dirty="0">
                <a:solidFill>
                  <a:srgbClr val="4B5563"/>
                </a:solidFill>
                <a:latin typeface="Noto Sans"/>
              </a:rPr>
              <a:t> </a:t>
            </a:r>
            <a:r>
              <a:rPr sz="956" b="0" dirty="0" err="1">
                <a:solidFill>
                  <a:srgbClr val="4B5563"/>
                </a:solidFill>
                <a:latin typeface="Noto Sans"/>
              </a:rPr>
              <a:t>профилактики</a:t>
            </a:r>
            <a:r>
              <a:rPr sz="956" b="0" dirty="0">
                <a:solidFill>
                  <a:srgbClr val="4B5563"/>
                </a:solidFill>
                <a:latin typeface="Noto Sans"/>
              </a:rPr>
              <a:t> </a:t>
            </a:r>
            <a:r>
              <a:rPr sz="956" b="0" dirty="0" err="1">
                <a:solidFill>
                  <a:srgbClr val="4B5563"/>
                </a:solidFill>
                <a:latin typeface="Noto Sans"/>
              </a:rPr>
              <a:t>заболеваний</a:t>
            </a:r>
            <a:endParaRPr sz="956" b="0" dirty="0">
              <a:solidFill>
                <a:srgbClr val="4B5563"/>
              </a:solidFill>
              <a:latin typeface="Noto Sans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6705432" y="857250"/>
            <a:ext cx="5486262" cy="600075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6" name="Rectangle 25"/>
          <p:cNvSpPr/>
          <p:nvPr/>
        </p:nvSpPr>
        <p:spPr>
          <a:xfrm>
            <a:off x="7372165" y="1600200"/>
            <a:ext cx="76198" cy="380999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7" name="TextBox 26"/>
          <p:cNvSpPr txBox="1"/>
          <p:nvPr/>
        </p:nvSpPr>
        <p:spPr>
          <a:xfrm>
            <a:off x="7600759" y="1600200"/>
            <a:ext cx="1857328" cy="4000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sz="1674" b="1" dirty="0" err="1">
                <a:solidFill>
                  <a:srgbClr val="0D47A1"/>
                </a:solidFill>
                <a:latin typeface="Noto Sans"/>
              </a:rPr>
              <a:t>Ограничения</a:t>
            </a:r>
            <a:endParaRPr sz="1674" b="1" dirty="0">
              <a:solidFill>
                <a:srgbClr val="0D47A1"/>
              </a:solidFill>
              <a:latin typeface="Noto Sans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7372165" y="2228850"/>
            <a:ext cx="4152796" cy="1876424"/>
          </a:xfrm>
          <a:prstGeom prst="roundRect">
            <a:avLst>
              <a:gd name="adj" fmla="val 16243"/>
            </a:avLst>
          </a:prstGeom>
          <a:solidFill>
            <a:srgbClr val="FFFFFF"/>
          </a:solidFill>
          <a:ln w="33020">
            <a:solidFill>
              <a:srgbClr val="4FC3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600759" y="2540976"/>
            <a:ext cx="304792" cy="213946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8019849" y="2495550"/>
            <a:ext cx="2162120" cy="3143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sz="1315" b="1" dirty="0" err="1">
                <a:solidFill>
                  <a:srgbClr val="0D47A1"/>
                </a:solidFill>
                <a:latin typeface="Noto Sans"/>
              </a:rPr>
              <a:t>Точность</a:t>
            </a:r>
            <a:r>
              <a:rPr sz="1315" b="1" dirty="0">
                <a:solidFill>
                  <a:srgbClr val="0D47A1"/>
                </a:solidFill>
                <a:latin typeface="Noto Sans"/>
              </a:rPr>
              <a:t> </a:t>
            </a:r>
            <a:r>
              <a:rPr sz="1315" b="1" dirty="0" err="1">
                <a:solidFill>
                  <a:srgbClr val="0D47A1"/>
                </a:solidFill>
                <a:latin typeface="Noto Sans"/>
              </a:rPr>
              <a:t>прогнозов</a:t>
            </a:r>
            <a:endParaRPr sz="1315" b="1" dirty="0">
              <a:solidFill>
                <a:srgbClr val="0D47A1"/>
              </a:solidFill>
              <a:latin typeface="Noto Sans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7600759" y="2952750"/>
            <a:ext cx="609584" cy="5333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3348" b="1" dirty="0">
                <a:solidFill>
                  <a:srgbClr val="4FC3F7"/>
                </a:solidFill>
                <a:latin typeface="Noto Sans"/>
              </a:rPr>
              <a:t>85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86542" y="3124200"/>
            <a:ext cx="238119" cy="4000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sz="1674" b="1" dirty="0">
                <a:solidFill>
                  <a:srgbClr val="374151"/>
                </a:solidFill>
                <a:latin typeface="Noto Sans"/>
              </a:rPr>
              <a:t>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00759" y="3638550"/>
            <a:ext cx="3695607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 dirty="0" err="1">
                <a:solidFill>
                  <a:srgbClr val="4B5563"/>
                </a:solidFill>
                <a:latin typeface="Noto Sans"/>
              </a:rPr>
              <a:t>Средняя</a:t>
            </a:r>
            <a:r>
              <a:rPr sz="956" b="0" dirty="0">
                <a:solidFill>
                  <a:srgbClr val="4B5563"/>
                </a:solidFill>
                <a:latin typeface="Noto Sans"/>
              </a:rPr>
              <a:t> </a:t>
            </a:r>
            <a:r>
              <a:rPr sz="956" b="0" dirty="0" err="1">
                <a:solidFill>
                  <a:srgbClr val="4B5563"/>
                </a:solidFill>
                <a:latin typeface="Noto Sans"/>
              </a:rPr>
              <a:t>точность</a:t>
            </a:r>
            <a:r>
              <a:rPr sz="956" b="0" dirty="0">
                <a:solidFill>
                  <a:srgbClr val="4B5563"/>
                </a:solidFill>
                <a:latin typeface="Noto Sans"/>
              </a:rPr>
              <a:t> </a:t>
            </a:r>
            <a:r>
              <a:rPr sz="956" b="0" dirty="0" err="1">
                <a:solidFill>
                  <a:srgbClr val="4B5563"/>
                </a:solidFill>
                <a:latin typeface="Noto Sans"/>
              </a:rPr>
              <a:t>на</a:t>
            </a:r>
            <a:r>
              <a:rPr sz="956" b="0" dirty="0">
                <a:solidFill>
                  <a:srgbClr val="4B5563"/>
                </a:solidFill>
                <a:latin typeface="Noto Sans"/>
              </a:rPr>
              <a:t> </a:t>
            </a:r>
            <a:r>
              <a:rPr sz="956" b="0" dirty="0" err="1">
                <a:solidFill>
                  <a:srgbClr val="4B5563"/>
                </a:solidFill>
                <a:latin typeface="Noto Sans"/>
              </a:rPr>
              <a:t>тестовых</a:t>
            </a:r>
            <a:r>
              <a:rPr sz="956" b="0" dirty="0">
                <a:solidFill>
                  <a:srgbClr val="4B5563"/>
                </a:solidFill>
                <a:latin typeface="Noto Sans"/>
              </a:rPr>
              <a:t> </a:t>
            </a:r>
            <a:r>
              <a:rPr sz="956" b="0" dirty="0" err="1">
                <a:solidFill>
                  <a:srgbClr val="4B5563"/>
                </a:solidFill>
                <a:latin typeface="Noto Sans"/>
              </a:rPr>
              <a:t>данных</a:t>
            </a:r>
            <a:endParaRPr sz="956" b="0" dirty="0">
              <a:solidFill>
                <a:srgbClr val="4B5563"/>
              </a:solidFill>
              <a:latin typeface="Noto Sans"/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7372165" y="4286250"/>
            <a:ext cx="4152796" cy="533399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pic>
        <p:nvPicPr>
          <p:cNvPr id="35" name="Picture 34" descr="image.png"/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524561" y="4474508"/>
            <a:ext cx="190495" cy="15688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7829354" y="4438649"/>
            <a:ext cx="3467013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 dirty="0" err="1">
                <a:solidFill>
                  <a:srgbClr val="374151"/>
                </a:solidFill>
                <a:latin typeface="Noto Sans"/>
              </a:rPr>
              <a:t>Результаты</a:t>
            </a:r>
            <a:r>
              <a:rPr sz="956" b="0" dirty="0">
                <a:solidFill>
                  <a:srgbClr val="374151"/>
                </a:solidFill>
                <a:latin typeface="Noto Sans"/>
              </a:rPr>
              <a:t> </a:t>
            </a:r>
            <a:r>
              <a:rPr sz="956" b="0" dirty="0" err="1">
                <a:solidFill>
                  <a:srgbClr val="374151"/>
                </a:solidFill>
                <a:latin typeface="Noto Sans"/>
              </a:rPr>
              <a:t>носят</a:t>
            </a:r>
            <a:r>
              <a:rPr sz="956" b="0" dirty="0">
                <a:solidFill>
                  <a:srgbClr val="374151"/>
                </a:solidFill>
                <a:latin typeface="Noto Sans"/>
              </a:rPr>
              <a:t> </a:t>
            </a:r>
            <a:r>
              <a:rPr sz="956" b="0" dirty="0" err="1">
                <a:solidFill>
                  <a:srgbClr val="374151"/>
                </a:solidFill>
                <a:latin typeface="Noto Sans"/>
              </a:rPr>
              <a:t>рекомендательный</a:t>
            </a:r>
            <a:r>
              <a:rPr sz="956" b="0" dirty="0">
                <a:solidFill>
                  <a:srgbClr val="374151"/>
                </a:solidFill>
                <a:latin typeface="Noto Sans"/>
              </a:rPr>
              <a:t> </a:t>
            </a:r>
            <a:r>
              <a:rPr sz="956" b="0" dirty="0" err="1">
                <a:solidFill>
                  <a:srgbClr val="374151"/>
                </a:solidFill>
                <a:latin typeface="Noto Sans"/>
              </a:rPr>
              <a:t>характер</a:t>
            </a:r>
            <a:endParaRPr sz="956" b="0" dirty="0">
              <a:solidFill>
                <a:srgbClr val="374151"/>
              </a:solidFill>
              <a:latin typeface="Noto Sans"/>
            </a:endParaRPr>
          </a:p>
        </p:txBody>
      </p:sp>
      <p:sp>
        <p:nvSpPr>
          <p:cNvPr id="37" name="Rounded Rectangle 36"/>
          <p:cNvSpPr/>
          <p:nvPr/>
        </p:nvSpPr>
        <p:spPr>
          <a:xfrm>
            <a:off x="7372165" y="4933950"/>
            <a:ext cx="4152796" cy="533399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524561" y="5122208"/>
            <a:ext cx="190495" cy="156882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829354" y="5086350"/>
            <a:ext cx="2485962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 dirty="0" err="1">
                <a:solidFill>
                  <a:srgbClr val="374151"/>
                </a:solidFill>
                <a:latin typeface="Noto Sans"/>
              </a:rPr>
              <a:t>Не</a:t>
            </a:r>
            <a:r>
              <a:rPr sz="956" b="0" dirty="0">
                <a:solidFill>
                  <a:srgbClr val="374151"/>
                </a:solidFill>
                <a:latin typeface="Noto Sans"/>
              </a:rPr>
              <a:t> </a:t>
            </a:r>
            <a:r>
              <a:rPr sz="956" b="0" dirty="0" err="1">
                <a:solidFill>
                  <a:srgbClr val="374151"/>
                </a:solidFill>
                <a:latin typeface="Noto Sans"/>
              </a:rPr>
              <a:t>заменяет</a:t>
            </a:r>
            <a:r>
              <a:rPr sz="956" b="0" dirty="0">
                <a:solidFill>
                  <a:srgbClr val="374151"/>
                </a:solidFill>
                <a:latin typeface="Noto Sans"/>
              </a:rPr>
              <a:t> </a:t>
            </a:r>
            <a:r>
              <a:rPr sz="956" b="0" dirty="0" err="1">
                <a:solidFill>
                  <a:srgbClr val="374151"/>
                </a:solidFill>
                <a:latin typeface="Noto Sans"/>
              </a:rPr>
              <a:t>консультацию</a:t>
            </a:r>
            <a:r>
              <a:rPr sz="956" b="0" dirty="0">
                <a:solidFill>
                  <a:srgbClr val="374151"/>
                </a:solidFill>
                <a:latin typeface="Noto Sans"/>
              </a:rPr>
              <a:t> </a:t>
            </a:r>
            <a:r>
              <a:rPr sz="956" b="0" dirty="0" err="1">
                <a:solidFill>
                  <a:srgbClr val="374151"/>
                </a:solidFill>
                <a:latin typeface="Noto Sans"/>
              </a:rPr>
              <a:t>врача</a:t>
            </a:r>
            <a:endParaRPr sz="956" b="0" dirty="0">
              <a:solidFill>
                <a:srgbClr val="374151"/>
              </a:solidFill>
              <a:latin typeface="Noto Sans"/>
            </a:endParaRPr>
          </a:p>
        </p:txBody>
      </p:sp>
      <p:sp>
        <p:nvSpPr>
          <p:cNvPr id="40" name="Rounded Rectangle 39"/>
          <p:cNvSpPr/>
          <p:nvPr/>
        </p:nvSpPr>
        <p:spPr>
          <a:xfrm>
            <a:off x="7372165" y="5581649"/>
            <a:ext cx="4152796" cy="533399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524561" y="5769908"/>
            <a:ext cx="190495" cy="156882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7829354" y="5702124"/>
            <a:ext cx="2701317" cy="29245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56" b="0" noProof="1">
                <a:solidFill>
                  <a:srgbClr val="374151"/>
                </a:solidFill>
                <a:latin typeface="Noto Sans"/>
              </a:rPr>
              <a:t>Зависимость</a:t>
            </a:r>
            <a:r>
              <a:rPr sz="956" b="0" dirty="0">
                <a:solidFill>
                  <a:srgbClr val="374151"/>
                </a:solidFill>
                <a:latin typeface="Noto Sans"/>
              </a:rPr>
              <a:t> </a:t>
            </a:r>
            <a:r>
              <a:rPr sz="956" b="0" dirty="0" err="1">
                <a:solidFill>
                  <a:srgbClr val="374151"/>
                </a:solidFill>
                <a:latin typeface="Noto Sans"/>
              </a:rPr>
              <a:t>от</a:t>
            </a:r>
            <a:r>
              <a:rPr sz="956" b="0" dirty="0">
                <a:solidFill>
                  <a:srgbClr val="374151"/>
                </a:solidFill>
                <a:latin typeface="Noto Sans"/>
              </a:rPr>
              <a:t> </a:t>
            </a:r>
            <a:r>
              <a:rPr sz="956" b="0" dirty="0" err="1">
                <a:solidFill>
                  <a:srgbClr val="374151"/>
                </a:solidFill>
                <a:latin typeface="Noto Sans"/>
              </a:rPr>
              <a:t>качества</a:t>
            </a:r>
            <a:r>
              <a:rPr sz="956" b="0" dirty="0">
                <a:solidFill>
                  <a:srgbClr val="374151"/>
                </a:solidFill>
                <a:latin typeface="Noto Sans"/>
              </a:rPr>
              <a:t> </a:t>
            </a:r>
            <a:r>
              <a:rPr sz="956" b="0" dirty="0" err="1">
                <a:solidFill>
                  <a:srgbClr val="374151"/>
                </a:solidFill>
                <a:latin typeface="Noto Sans"/>
              </a:rPr>
              <a:t>входных</a:t>
            </a:r>
            <a:r>
              <a:rPr sz="956" b="0" dirty="0">
                <a:solidFill>
                  <a:srgbClr val="374151"/>
                </a:solidFill>
                <a:latin typeface="Noto Sans"/>
              </a:rPr>
              <a:t> </a:t>
            </a:r>
            <a:r>
              <a:rPr sz="956" b="0" dirty="0" err="1">
                <a:solidFill>
                  <a:srgbClr val="374151"/>
                </a:solidFill>
                <a:latin typeface="Noto Sans"/>
              </a:rPr>
              <a:t>данных</a:t>
            </a:r>
            <a:endParaRPr sz="956" b="0" dirty="0">
              <a:solidFill>
                <a:srgbClr val="374151"/>
              </a:solidFill>
              <a:latin typeface="Noto San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5725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666733" y="288726"/>
            <a:ext cx="380990" cy="2797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00119" y="142875"/>
            <a:ext cx="5514837" cy="5715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2392" b="1" dirty="0" err="1">
                <a:solidFill>
                  <a:srgbClr val="FFFFFF"/>
                </a:solidFill>
                <a:latin typeface="Noto Sans"/>
              </a:rPr>
              <a:t>Заключение</a:t>
            </a:r>
            <a:r>
              <a:rPr sz="2392" b="1" dirty="0">
                <a:solidFill>
                  <a:srgbClr val="FFFFFF"/>
                </a:solidFill>
                <a:latin typeface="Noto Sans"/>
              </a:rPr>
              <a:t> и </a:t>
            </a:r>
            <a:r>
              <a:rPr sz="2392" b="1" dirty="0" err="1">
                <a:solidFill>
                  <a:srgbClr val="FFFFFF"/>
                </a:solidFill>
                <a:latin typeface="Noto Sans"/>
              </a:rPr>
              <a:t>перспективы</a:t>
            </a:r>
            <a:endParaRPr sz="2392" b="1" dirty="0">
              <a:solidFill>
                <a:srgbClr val="FFFFFF"/>
              </a:solidFill>
              <a:latin typeface="Noto Sans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66733" y="1571625"/>
            <a:ext cx="76198" cy="380999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895327" y="1562100"/>
            <a:ext cx="2009724" cy="4000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sz="1674" b="1" dirty="0" err="1">
                <a:solidFill>
                  <a:srgbClr val="0D47A1"/>
                </a:solidFill>
                <a:latin typeface="Noto Sans"/>
              </a:rPr>
              <a:t>Итоги</a:t>
            </a:r>
            <a:r>
              <a:rPr sz="1674" b="1" dirty="0">
                <a:solidFill>
                  <a:srgbClr val="0D47A1"/>
                </a:solidFill>
                <a:latin typeface="Noto Sans"/>
              </a:rPr>
              <a:t> </a:t>
            </a:r>
            <a:r>
              <a:rPr sz="1674" b="1" dirty="0" err="1">
                <a:solidFill>
                  <a:srgbClr val="0D47A1"/>
                </a:solidFill>
                <a:latin typeface="Noto Sans"/>
              </a:rPr>
              <a:t>проекта</a:t>
            </a:r>
            <a:endParaRPr sz="1674" b="1" dirty="0">
              <a:solidFill>
                <a:srgbClr val="0D47A1"/>
              </a:solidFill>
              <a:latin typeface="Noto San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66733" y="2266950"/>
            <a:ext cx="4152796" cy="2895600"/>
          </a:xfrm>
          <a:prstGeom prst="roundRect">
            <a:avLst>
              <a:gd name="adj" fmla="val 10526"/>
            </a:avLst>
          </a:prstGeom>
          <a:gradFill rotWithShape="1">
            <a:gsLst>
              <a:gs pos="0">
                <a:srgbClr val="4FC3F7"/>
              </a:gs>
              <a:gs pos="100000">
                <a:srgbClr val="0D47A1"/>
              </a:gs>
            </a:gsLst>
            <a:lin ang="108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71525" y="2741696"/>
            <a:ext cx="457188" cy="40305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581110" y="2571750"/>
            <a:ext cx="2933626" cy="7429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535"/>
              </a:lnSpc>
              <a:spcBef>
                <a:spcPts val="0"/>
              </a:spcBef>
              <a:spcAft>
                <a:spcPts val="0"/>
              </a:spcAft>
            </a:pPr>
            <a:r>
              <a:rPr sz="1554" b="1" dirty="0" err="1">
                <a:solidFill>
                  <a:srgbClr val="FFFFFF"/>
                </a:solidFill>
                <a:latin typeface="Noto Sans"/>
              </a:rPr>
              <a:t>Проект</a:t>
            </a:r>
            <a:r>
              <a:rPr sz="1554" b="1" dirty="0">
                <a:solidFill>
                  <a:srgbClr val="FFFFFF"/>
                </a:solidFill>
                <a:latin typeface="Noto Sans"/>
              </a:rPr>
              <a:t> </a:t>
            </a:r>
            <a:r>
              <a:rPr sz="1554" b="1" dirty="0" err="1">
                <a:solidFill>
                  <a:srgbClr val="FFFFFF"/>
                </a:solidFill>
                <a:latin typeface="Noto Sans"/>
              </a:rPr>
              <a:t>реализован</a:t>
            </a:r>
            <a:r>
              <a:rPr sz="1554" b="1" dirty="0">
                <a:solidFill>
                  <a:srgbClr val="FFFFFF"/>
                </a:solidFill>
                <a:latin typeface="Noto Sans"/>
              </a:rPr>
              <a:t> </a:t>
            </a:r>
            <a:r>
              <a:rPr sz="1554" b="1" dirty="0" err="1">
                <a:solidFill>
                  <a:srgbClr val="FFFFFF"/>
                </a:solidFill>
                <a:latin typeface="Noto Sans"/>
              </a:rPr>
              <a:t>успешно</a:t>
            </a:r>
            <a:endParaRPr sz="1554" b="1" dirty="0">
              <a:solidFill>
                <a:srgbClr val="FFFFFF"/>
              </a:solidFill>
              <a:latin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71525" y="3467100"/>
            <a:ext cx="3543211" cy="139065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885"/>
              </a:lnSpc>
              <a:spcBef>
                <a:spcPts val="0"/>
              </a:spcBef>
              <a:spcAft>
                <a:spcPts val="0"/>
              </a:spcAft>
            </a:pPr>
            <a:r>
              <a:rPr sz="1076" b="0" dirty="0" err="1">
                <a:solidFill>
                  <a:srgbClr val="FFFFFF"/>
                </a:solidFill>
                <a:latin typeface="Noto Sans"/>
              </a:rPr>
              <a:t>Все</a:t>
            </a:r>
            <a:r>
              <a:rPr sz="1076" b="0" dirty="0">
                <a:solidFill>
                  <a:srgbClr val="FFFFFF"/>
                </a:solidFill>
                <a:latin typeface="Noto Sans"/>
              </a:rPr>
              <a:t> </a:t>
            </a:r>
            <a:r>
              <a:rPr sz="1076" b="0" dirty="0" err="1">
                <a:solidFill>
                  <a:srgbClr val="FFFFFF"/>
                </a:solidFill>
                <a:latin typeface="Noto Sans"/>
              </a:rPr>
              <a:t>поставленные</a:t>
            </a:r>
            <a:r>
              <a:rPr sz="1076" b="0" dirty="0">
                <a:solidFill>
                  <a:srgbClr val="FFFFFF"/>
                </a:solidFill>
                <a:latin typeface="Noto Sans"/>
              </a:rPr>
              <a:t> </a:t>
            </a:r>
            <a:r>
              <a:rPr sz="1076" b="0" dirty="0" err="1">
                <a:solidFill>
                  <a:srgbClr val="FFFFFF"/>
                </a:solidFill>
                <a:latin typeface="Noto Sans"/>
              </a:rPr>
              <a:t>цели</a:t>
            </a:r>
            <a:r>
              <a:rPr sz="1076" b="0" dirty="0">
                <a:solidFill>
                  <a:srgbClr val="FFFFFF"/>
                </a:solidFill>
                <a:latin typeface="Noto Sans"/>
              </a:rPr>
              <a:t> </a:t>
            </a:r>
            <a:r>
              <a:rPr sz="1076" b="0" dirty="0" err="1">
                <a:solidFill>
                  <a:srgbClr val="FFFFFF"/>
                </a:solidFill>
                <a:latin typeface="Noto Sans"/>
              </a:rPr>
              <a:t>достигнуты</a:t>
            </a:r>
            <a:r>
              <a:rPr sz="1076" b="0" dirty="0">
                <a:solidFill>
                  <a:srgbClr val="FFFFFF"/>
                </a:solidFill>
                <a:latin typeface="Noto Sans"/>
              </a:rPr>
              <a:t>. </a:t>
            </a:r>
            <a:r>
              <a:rPr sz="1076" b="0" dirty="0" err="1">
                <a:solidFill>
                  <a:srgbClr val="FFFFFF"/>
                </a:solidFill>
                <a:latin typeface="Noto Sans"/>
              </a:rPr>
              <a:t>Веб-приложение</a:t>
            </a:r>
            <a:r>
              <a:rPr sz="1076" b="0" dirty="0">
                <a:solidFill>
                  <a:srgbClr val="FFFFFF"/>
                </a:solidFill>
                <a:latin typeface="Noto Sans"/>
              </a:rPr>
              <a:t> </a:t>
            </a:r>
            <a:r>
              <a:rPr sz="1076" b="0" dirty="0" err="1">
                <a:solidFill>
                  <a:srgbClr val="FFFFFF"/>
                </a:solidFill>
                <a:latin typeface="Noto Sans"/>
              </a:rPr>
              <a:t>корректно</a:t>
            </a:r>
            <a:r>
              <a:rPr sz="1076" b="0" dirty="0">
                <a:solidFill>
                  <a:srgbClr val="FFFFFF"/>
                </a:solidFill>
                <a:latin typeface="Noto Sans"/>
              </a:rPr>
              <a:t> </a:t>
            </a:r>
            <a:r>
              <a:rPr sz="1076" b="0" dirty="0" err="1">
                <a:solidFill>
                  <a:srgbClr val="FFFFFF"/>
                </a:solidFill>
                <a:latin typeface="Noto Sans"/>
              </a:rPr>
              <a:t>рассчитывает</a:t>
            </a:r>
            <a:r>
              <a:rPr sz="1076" b="0" dirty="0">
                <a:solidFill>
                  <a:srgbClr val="FFFFFF"/>
                </a:solidFill>
                <a:latin typeface="Noto Sans"/>
              </a:rPr>
              <a:t> </a:t>
            </a:r>
            <a:r>
              <a:rPr sz="1076" b="0" dirty="0" err="1">
                <a:solidFill>
                  <a:srgbClr val="FFFFFF"/>
                </a:solidFill>
                <a:latin typeface="Noto Sans"/>
              </a:rPr>
              <a:t>вероятность</a:t>
            </a:r>
            <a:r>
              <a:rPr sz="1076" b="0" dirty="0">
                <a:solidFill>
                  <a:srgbClr val="FFFFFF"/>
                </a:solidFill>
                <a:latin typeface="Noto Sans"/>
              </a:rPr>
              <a:t> </a:t>
            </a:r>
            <a:r>
              <a:rPr sz="1076" b="0" dirty="0" err="1">
                <a:solidFill>
                  <a:srgbClr val="FFFFFF"/>
                </a:solidFill>
                <a:latin typeface="Noto Sans"/>
              </a:rPr>
              <a:t>заболеваний</a:t>
            </a:r>
            <a:r>
              <a:rPr sz="1076" b="0" dirty="0">
                <a:solidFill>
                  <a:srgbClr val="FFFFFF"/>
                </a:solidFill>
                <a:latin typeface="Noto Sans"/>
              </a:rPr>
              <a:t> и </a:t>
            </a:r>
            <a:r>
              <a:rPr sz="1076" b="0" dirty="0" err="1">
                <a:solidFill>
                  <a:srgbClr val="FFFFFF"/>
                </a:solidFill>
                <a:latin typeface="Noto Sans"/>
              </a:rPr>
              <a:t>предоставляет</a:t>
            </a:r>
            <a:r>
              <a:rPr sz="1076" b="0" dirty="0">
                <a:solidFill>
                  <a:srgbClr val="FFFFFF"/>
                </a:solidFill>
                <a:latin typeface="Noto Sans"/>
              </a:rPr>
              <a:t> </a:t>
            </a:r>
            <a:r>
              <a:rPr sz="1076" b="0" dirty="0" err="1">
                <a:solidFill>
                  <a:srgbClr val="FFFFFF"/>
                </a:solidFill>
                <a:latin typeface="Noto Sans"/>
              </a:rPr>
              <a:t>удобный</a:t>
            </a:r>
            <a:r>
              <a:rPr sz="1076" b="0" dirty="0">
                <a:solidFill>
                  <a:srgbClr val="FFFFFF"/>
                </a:solidFill>
                <a:latin typeface="Noto Sans"/>
              </a:rPr>
              <a:t> </a:t>
            </a:r>
            <a:r>
              <a:rPr sz="1076" b="0" dirty="0" err="1">
                <a:solidFill>
                  <a:srgbClr val="FFFFFF"/>
                </a:solidFill>
                <a:latin typeface="Noto Sans"/>
              </a:rPr>
              <a:t>интерфейс</a:t>
            </a:r>
            <a:r>
              <a:rPr sz="1076" b="0" dirty="0">
                <a:solidFill>
                  <a:srgbClr val="FFFFFF"/>
                </a:solidFill>
                <a:latin typeface="Noto Sans"/>
              </a:rPr>
              <a:t> </a:t>
            </a:r>
            <a:r>
              <a:rPr sz="1076" b="0" dirty="0" err="1">
                <a:solidFill>
                  <a:srgbClr val="FFFFFF"/>
                </a:solidFill>
                <a:latin typeface="Noto Sans"/>
              </a:rPr>
              <a:t>для</a:t>
            </a:r>
            <a:r>
              <a:rPr sz="1076" b="0" dirty="0">
                <a:solidFill>
                  <a:srgbClr val="FFFFFF"/>
                </a:solidFill>
                <a:latin typeface="Noto Sans"/>
              </a:rPr>
              <a:t> </a:t>
            </a:r>
            <a:r>
              <a:rPr sz="1076" b="0" dirty="0" err="1">
                <a:solidFill>
                  <a:srgbClr val="FFFFFF"/>
                </a:solidFill>
                <a:latin typeface="Noto Sans"/>
              </a:rPr>
              <a:t>пользователей</a:t>
            </a:r>
            <a:r>
              <a:rPr sz="1076" b="0" dirty="0">
                <a:solidFill>
                  <a:srgbClr val="FFFFFF"/>
                </a:solidFill>
                <a:latin typeface="Noto Sans"/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6733" y="5391150"/>
            <a:ext cx="4152796" cy="761999"/>
          </a:xfrm>
          <a:prstGeom prst="roundRect">
            <a:avLst>
              <a:gd name="adj" fmla="val 30000"/>
            </a:avLst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2" name="Round Same Side Corner Rectangle 11"/>
          <p:cNvSpPr/>
          <p:nvPr/>
        </p:nvSpPr>
        <p:spPr>
          <a:xfrm rot="16200000">
            <a:off x="351774" y="5706109"/>
            <a:ext cx="761999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33426" y="5651988"/>
            <a:ext cx="304792" cy="24032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390615" y="5629275"/>
            <a:ext cx="2190695" cy="2857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196" b="1" dirty="0" err="1">
                <a:solidFill>
                  <a:srgbClr val="0D47A1"/>
                </a:solidFill>
                <a:latin typeface="Noto Sans"/>
              </a:rPr>
              <a:t>Спасибо</a:t>
            </a:r>
            <a:r>
              <a:rPr sz="1196" b="1" dirty="0">
                <a:solidFill>
                  <a:srgbClr val="0D47A1"/>
                </a:solidFill>
                <a:latin typeface="Noto Sans"/>
              </a:rPr>
              <a:t> </a:t>
            </a:r>
            <a:r>
              <a:rPr sz="1196" b="1" dirty="0" err="1">
                <a:solidFill>
                  <a:srgbClr val="0D47A1"/>
                </a:solidFill>
                <a:latin typeface="Noto Sans"/>
              </a:rPr>
              <a:t>за</a:t>
            </a:r>
            <a:r>
              <a:rPr sz="1196" b="1" dirty="0">
                <a:solidFill>
                  <a:srgbClr val="0D47A1"/>
                </a:solidFill>
                <a:latin typeface="Noto Sans"/>
              </a:rPr>
              <a:t> </a:t>
            </a:r>
            <a:r>
              <a:rPr sz="1196" b="1" dirty="0" err="1">
                <a:solidFill>
                  <a:srgbClr val="0D47A1"/>
                </a:solidFill>
                <a:latin typeface="Noto Sans"/>
              </a:rPr>
              <a:t>внимание</a:t>
            </a:r>
            <a:r>
              <a:rPr sz="1196" b="1" dirty="0">
                <a:solidFill>
                  <a:srgbClr val="0D47A1"/>
                </a:solidFill>
                <a:latin typeface="Noto Sans"/>
              </a:rPr>
              <a:t>!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262" y="857250"/>
            <a:ext cx="6705432" cy="600075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6" name="Rectangle 15"/>
          <p:cNvSpPr/>
          <p:nvPr/>
        </p:nvSpPr>
        <p:spPr>
          <a:xfrm>
            <a:off x="6152996" y="1409699"/>
            <a:ext cx="76198" cy="380999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7" name="TextBox 16"/>
          <p:cNvSpPr txBox="1"/>
          <p:nvPr/>
        </p:nvSpPr>
        <p:spPr>
          <a:xfrm>
            <a:off x="6381590" y="1400175"/>
            <a:ext cx="3209844" cy="4000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sz="1674" b="1" dirty="0" err="1">
                <a:solidFill>
                  <a:srgbClr val="0D47A1"/>
                </a:solidFill>
                <a:latin typeface="Noto Sans"/>
              </a:rPr>
              <a:t>Перспективы</a:t>
            </a:r>
            <a:r>
              <a:rPr sz="1674" b="1" dirty="0">
                <a:solidFill>
                  <a:srgbClr val="0D47A1"/>
                </a:solidFill>
                <a:latin typeface="Noto Sans"/>
              </a:rPr>
              <a:t> </a:t>
            </a:r>
            <a:r>
              <a:rPr sz="1674" b="1" dirty="0" err="1">
                <a:solidFill>
                  <a:srgbClr val="0D47A1"/>
                </a:solidFill>
                <a:latin typeface="Noto Sans"/>
              </a:rPr>
              <a:t>развития</a:t>
            </a:r>
            <a:endParaRPr sz="1674" b="1" dirty="0">
              <a:solidFill>
                <a:srgbClr val="0D47A1"/>
              </a:solidFill>
              <a:latin typeface="Noto Sans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6152996" y="2105024"/>
            <a:ext cx="2590735" cy="1638299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33020">
            <a:solidFill>
              <a:srgbClr val="4FC3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381590" y="2512629"/>
            <a:ext cx="342891" cy="289691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838779" y="2371725"/>
            <a:ext cx="1676358" cy="5715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196" b="1" dirty="0" err="1">
                <a:solidFill>
                  <a:srgbClr val="0D47A1"/>
                </a:solidFill>
                <a:latin typeface="Noto Sans"/>
              </a:rPr>
              <a:t>Новые</a:t>
            </a:r>
            <a:r>
              <a:rPr sz="1196" b="1" dirty="0">
                <a:solidFill>
                  <a:srgbClr val="0D47A1"/>
                </a:solidFill>
                <a:latin typeface="Noto Sans"/>
              </a:rPr>
              <a:t> </a:t>
            </a:r>
            <a:r>
              <a:rPr sz="1196" b="1" dirty="0" err="1">
                <a:solidFill>
                  <a:srgbClr val="0D47A1"/>
                </a:solidFill>
                <a:latin typeface="Noto Sans"/>
              </a:rPr>
              <a:t>заболевания</a:t>
            </a:r>
            <a:endParaRPr sz="1196" b="1" dirty="0">
              <a:solidFill>
                <a:srgbClr val="0D47A1"/>
              </a:solidFill>
              <a:latin typeface="Noto San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381590" y="3057525"/>
            <a:ext cx="2133546" cy="45720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 dirty="0" err="1">
                <a:solidFill>
                  <a:srgbClr val="4B5563"/>
                </a:solidFill>
                <a:latin typeface="Noto Sans"/>
              </a:rPr>
              <a:t>Расширение</a:t>
            </a:r>
            <a:r>
              <a:rPr sz="956" b="0" dirty="0">
                <a:solidFill>
                  <a:srgbClr val="4B5563"/>
                </a:solidFill>
                <a:latin typeface="Noto Sans"/>
              </a:rPr>
              <a:t> </a:t>
            </a:r>
            <a:r>
              <a:rPr sz="956" b="0" dirty="0" err="1">
                <a:solidFill>
                  <a:srgbClr val="4B5563"/>
                </a:solidFill>
                <a:latin typeface="Noto Sans"/>
              </a:rPr>
              <a:t>списка</a:t>
            </a:r>
            <a:r>
              <a:rPr sz="956" b="0" dirty="0">
                <a:solidFill>
                  <a:srgbClr val="4B5563"/>
                </a:solidFill>
                <a:latin typeface="Noto Sans"/>
              </a:rPr>
              <a:t> </a:t>
            </a:r>
            <a:r>
              <a:rPr sz="956" b="0" dirty="0" err="1">
                <a:solidFill>
                  <a:srgbClr val="4B5563"/>
                </a:solidFill>
                <a:latin typeface="Noto Sans"/>
              </a:rPr>
              <a:t>анализируемых</a:t>
            </a:r>
            <a:r>
              <a:rPr sz="956" b="0" dirty="0">
                <a:solidFill>
                  <a:srgbClr val="4B5563"/>
                </a:solidFill>
                <a:latin typeface="Noto Sans"/>
              </a:rPr>
              <a:t> </a:t>
            </a:r>
            <a:r>
              <a:rPr sz="956" b="0" dirty="0" err="1">
                <a:solidFill>
                  <a:srgbClr val="4B5563"/>
                </a:solidFill>
                <a:latin typeface="Noto Sans"/>
              </a:rPr>
              <a:t>болезней</a:t>
            </a:r>
            <a:endParaRPr sz="956" b="0" dirty="0">
              <a:solidFill>
                <a:srgbClr val="4B5563"/>
              </a:solidFill>
              <a:latin typeface="Noto Sans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8934226" y="2105024"/>
            <a:ext cx="2590735" cy="1638299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33020"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9162820" y="2524453"/>
            <a:ext cx="342891" cy="266043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620009" y="2371725"/>
            <a:ext cx="1676358" cy="5715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196" b="1" dirty="0" err="1">
                <a:solidFill>
                  <a:srgbClr val="0D47A1"/>
                </a:solidFill>
                <a:latin typeface="Noto Sans"/>
              </a:rPr>
              <a:t>Машинное</a:t>
            </a:r>
            <a:r>
              <a:rPr sz="1196" b="1" dirty="0">
                <a:solidFill>
                  <a:srgbClr val="0D47A1"/>
                </a:solidFill>
                <a:latin typeface="Noto Sans"/>
              </a:rPr>
              <a:t> </a:t>
            </a:r>
            <a:r>
              <a:rPr sz="1196" b="1" dirty="0" err="1">
                <a:solidFill>
                  <a:srgbClr val="0D47A1"/>
                </a:solidFill>
                <a:latin typeface="Noto Sans"/>
              </a:rPr>
              <a:t>обучение</a:t>
            </a:r>
            <a:endParaRPr sz="1196" b="1" dirty="0">
              <a:solidFill>
                <a:srgbClr val="0D47A1"/>
              </a:solidFill>
              <a:latin typeface="Noto Sans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9162820" y="3057525"/>
            <a:ext cx="2133546" cy="45720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 dirty="0" err="1">
                <a:solidFill>
                  <a:srgbClr val="4B5563"/>
                </a:solidFill>
                <a:latin typeface="Noto Sans"/>
              </a:rPr>
              <a:t>Повышение</a:t>
            </a:r>
            <a:r>
              <a:rPr sz="956" b="0" dirty="0">
                <a:solidFill>
                  <a:srgbClr val="4B5563"/>
                </a:solidFill>
                <a:latin typeface="Noto Sans"/>
              </a:rPr>
              <a:t> </a:t>
            </a:r>
            <a:r>
              <a:rPr sz="956" b="0" dirty="0" err="1">
                <a:solidFill>
                  <a:srgbClr val="4B5563"/>
                </a:solidFill>
                <a:latin typeface="Noto Sans"/>
              </a:rPr>
              <a:t>точности</a:t>
            </a:r>
            <a:r>
              <a:rPr sz="956" b="0" dirty="0">
                <a:solidFill>
                  <a:srgbClr val="4B5563"/>
                </a:solidFill>
                <a:latin typeface="Noto Sans"/>
              </a:rPr>
              <a:t> с </a:t>
            </a:r>
            <a:r>
              <a:rPr sz="956" b="0" dirty="0" err="1">
                <a:solidFill>
                  <a:srgbClr val="4B5563"/>
                </a:solidFill>
                <a:latin typeface="Noto Sans"/>
              </a:rPr>
              <a:t>помощью</a:t>
            </a:r>
            <a:r>
              <a:rPr sz="956" b="0" dirty="0">
                <a:solidFill>
                  <a:srgbClr val="4B5563"/>
                </a:solidFill>
                <a:latin typeface="Noto Sans"/>
              </a:rPr>
              <a:t> ML-</a:t>
            </a:r>
            <a:r>
              <a:rPr sz="956" b="0" dirty="0" err="1">
                <a:solidFill>
                  <a:srgbClr val="4B5563"/>
                </a:solidFill>
                <a:latin typeface="Noto Sans"/>
              </a:rPr>
              <a:t>алгоритмов</a:t>
            </a:r>
            <a:endParaRPr sz="956" b="0" dirty="0">
              <a:solidFill>
                <a:srgbClr val="4B5563"/>
              </a:solidFill>
              <a:latin typeface="Noto Sans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6152996" y="3933824"/>
            <a:ext cx="2590735" cy="1638299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33020"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381590" y="4326649"/>
            <a:ext cx="342891" cy="319251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838779" y="4200525"/>
            <a:ext cx="1676358" cy="5715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196" b="1" dirty="0" err="1">
                <a:solidFill>
                  <a:srgbClr val="0D47A1"/>
                </a:solidFill>
                <a:latin typeface="Noto Sans"/>
              </a:rPr>
              <a:t>Мобильная</a:t>
            </a:r>
            <a:r>
              <a:rPr sz="1196" b="1" dirty="0">
                <a:solidFill>
                  <a:srgbClr val="0D47A1"/>
                </a:solidFill>
                <a:latin typeface="Noto Sans"/>
              </a:rPr>
              <a:t> </a:t>
            </a:r>
            <a:r>
              <a:rPr sz="1196" b="1" dirty="0" err="1">
                <a:solidFill>
                  <a:srgbClr val="0D47A1"/>
                </a:solidFill>
                <a:latin typeface="Noto Sans"/>
              </a:rPr>
              <a:t>версия</a:t>
            </a:r>
            <a:endParaRPr sz="1196" b="1" dirty="0">
              <a:solidFill>
                <a:srgbClr val="0D47A1"/>
              </a:solidFill>
              <a:latin typeface="Noto Sans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6381590" y="4886325"/>
            <a:ext cx="2133546" cy="45720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 dirty="0" err="1">
                <a:solidFill>
                  <a:srgbClr val="4B5563"/>
                </a:solidFill>
                <a:latin typeface="Noto Sans"/>
              </a:rPr>
              <a:t>Адаптация</a:t>
            </a:r>
            <a:r>
              <a:rPr sz="956" b="0" dirty="0">
                <a:solidFill>
                  <a:srgbClr val="4B5563"/>
                </a:solidFill>
                <a:latin typeface="Noto Sans"/>
              </a:rPr>
              <a:t> </a:t>
            </a:r>
            <a:r>
              <a:rPr sz="956" b="0" dirty="0" err="1">
                <a:solidFill>
                  <a:srgbClr val="4B5563"/>
                </a:solidFill>
                <a:latin typeface="Noto Sans"/>
              </a:rPr>
              <a:t>приложения</a:t>
            </a:r>
            <a:r>
              <a:rPr sz="956" b="0" dirty="0">
                <a:solidFill>
                  <a:srgbClr val="4B5563"/>
                </a:solidFill>
                <a:latin typeface="Noto Sans"/>
              </a:rPr>
              <a:t> </a:t>
            </a:r>
            <a:r>
              <a:rPr sz="956" b="0" dirty="0" err="1">
                <a:solidFill>
                  <a:srgbClr val="4B5563"/>
                </a:solidFill>
                <a:latin typeface="Noto Sans"/>
              </a:rPr>
              <a:t>для</a:t>
            </a:r>
            <a:r>
              <a:rPr sz="956" b="0" dirty="0">
                <a:solidFill>
                  <a:srgbClr val="4B5563"/>
                </a:solidFill>
                <a:latin typeface="Noto Sans"/>
              </a:rPr>
              <a:t> </a:t>
            </a:r>
            <a:r>
              <a:rPr sz="956" b="0" dirty="0" err="1">
                <a:solidFill>
                  <a:srgbClr val="4B5563"/>
                </a:solidFill>
                <a:latin typeface="Noto Sans"/>
              </a:rPr>
              <a:t>смартфонов</a:t>
            </a:r>
            <a:endParaRPr sz="956" b="0" dirty="0">
              <a:solidFill>
                <a:srgbClr val="4B5563"/>
              </a:solidFill>
              <a:latin typeface="Noto Sans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8934226" y="3933824"/>
            <a:ext cx="2590735" cy="1638299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33020">
            <a:solidFill>
              <a:srgbClr val="4FC3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9162820" y="4225651"/>
            <a:ext cx="342891" cy="292647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620009" y="4229100"/>
            <a:ext cx="1543011" cy="2857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196" b="1" dirty="0" err="1">
                <a:solidFill>
                  <a:srgbClr val="0D47A1"/>
                </a:solidFill>
                <a:latin typeface="Noto Sans"/>
              </a:rPr>
              <a:t>Интеграция</a:t>
            </a:r>
            <a:r>
              <a:rPr sz="1196" b="1" dirty="0">
                <a:solidFill>
                  <a:srgbClr val="0D47A1"/>
                </a:solidFill>
                <a:latin typeface="Noto Sans"/>
              </a:rPr>
              <a:t> API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62820" y="4657725"/>
            <a:ext cx="2133546" cy="45720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 dirty="0" err="1">
                <a:solidFill>
                  <a:srgbClr val="4B5563"/>
                </a:solidFill>
                <a:latin typeface="Noto Sans"/>
              </a:rPr>
              <a:t>Подключение</a:t>
            </a:r>
            <a:r>
              <a:rPr sz="956" b="0" dirty="0">
                <a:solidFill>
                  <a:srgbClr val="4B5563"/>
                </a:solidFill>
                <a:latin typeface="Noto Sans"/>
              </a:rPr>
              <a:t> к </a:t>
            </a:r>
            <a:r>
              <a:rPr sz="956" b="0" dirty="0" err="1">
                <a:solidFill>
                  <a:srgbClr val="4B5563"/>
                </a:solidFill>
                <a:latin typeface="Noto Sans"/>
              </a:rPr>
              <a:t>медицинским</a:t>
            </a:r>
            <a:r>
              <a:rPr sz="956" b="0" dirty="0">
                <a:solidFill>
                  <a:srgbClr val="4B5563"/>
                </a:solidFill>
                <a:latin typeface="Noto Sans"/>
              </a:rPr>
              <a:t> </a:t>
            </a:r>
            <a:r>
              <a:rPr sz="956" b="0" dirty="0" err="1">
                <a:solidFill>
                  <a:srgbClr val="4B5563"/>
                </a:solidFill>
                <a:latin typeface="Noto Sans"/>
              </a:rPr>
              <a:t>базам</a:t>
            </a:r>
            <a:r>
              <a:rPr sz="956" b="0" dirty="0">
                <a:solidFill>
                  <a:srgbClr val="4B5563"/>
                </a:solidFill>
                <a:latin typeface="Noto Sans"/>
              </a:rPr>
              <a:t> </a:t>
            </a:r>
            <a:r>
              <a:rPr sz="956" b="0" dirty="0" err="1">
                <a:solidFill>
                  <a:srgbClr val="4B5563"/>
                </a:solidFill>
                <a:latin typeface="Noto Sans"/>
              </a:rPr>
              <a:t>данных</a:t>
            </a:r>
            <a:endParaRPr sz="956" b="0" dirty="0">
              <a:solidFill>
                <a:srgbClr val="4B5563"/>
              </a:solidFill>
              <a:latin typeface="Noto Sans"/>
            </a:endParaRPr>
          </a:p>
        </p:txBody>
      </p:sp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6152996" y="5995034"/>
            <a:ext cx="228594" cy="125729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6495887" y="5900324"/>
            <a:ext cx="5029074" cy="315151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076" b="0" dirty="0">
                <a:solidFill>
                  <a:srgbClr val="374151"/>
                </a:solidFill>
                <a:latin typeface="Noto Sans"/>
              </a:rPr>
              <a:t>Непрерывное</a:t>
            </a:r>
            <a:r>
              <a:rPr sz="1076" b="0" dirty="0">
                <a:solidFill>
                  <a:srgbClr val="374151"/>
                </a:solidFill>
                <a:latin typeface="Noto Sans"/>
              </a:rPr>
              <a:t> </a:t>
            </a:r>
            <a:r>
              <a:rPr sz="1076" b="0" dirty="0" err="1">
                <a:solidFill>
                  <a:srgbClr val="374151"/>
                </a:solidFill>
                <a:latin typeface="Noto Sans"/>
              </a:rPr>
              <a:t>развитие</a:t>
            </a:r>
            <a:r>
              <a:rPr sz="1076" b="0" dirty="0">
                <a:solidFill>
                  <a:srgbClr val="374151"/>
                </a:solidFill>
                <a:latin typeface="Noto Sans"/>
              </a:rPr>
              <a:t> </a:t>
            </a:r>
            <a:r>
              <a:rPr sz="1076" b="0" dirty="0" err="1">
                <a:solidFill>
                  <a:srgbClr val="374151"/>
                </a:solidFill>
                <a:latin typeface="Noto Sans"/>
              </a:rPr>
              <a:t>для</a:t>
            </a:r>
            <a:r>
              <a:rPr sz="1076" b="0" dirty="0">
                <a:solidFill>
                  <a:srgbClr val="374151"/>
                </a:solidFill>
                <a:latin typeface="Noto Sans"/>
              </a:rPr>
              <a:t> </a:t>
            </a:r>
            <a:r>
              <a:rPr sz="1076" b="0" dirty="0" err="1">
                <a:solidFill>
                  <a:srgbClr val="374151"/>
                </a:solidFill>
                <a:latin typeface="Noto Sans"/>
              </a:rPr>
              <a:t>повышения</a:t>
            </a:r>
            <a:r>
              <a:rPr sz="1076" b="0" dirty="0">
                <a:solidFill>
                  <a:srgbClr val="374151"/>
                </a:solidFill>
                <a:latin typeface="Noto Sans"/>
              </a:rPr>
              <a:t> </a:t>
            </a:r>
            <a:r>
              <a:rPr sz="1076" b="0" dirty="0" err="1">
                <a:solidFill>
                  <a:srgbClr val="374151"/>
                </a:solidFill>
                <a:latin typeface="Noto Sans"/>
              </a:rPr>
              <a:t>качества</a:t>
            </a:r>
            <a:r>
              <a:rPr sz="1076" b="0" dirty="0">
                <a:solidFill>
                  <a:srgbClr val="374151"/>
                </a:solidFill>
                <a:latin typeface="Noto Sans"/>
              </a:rPr>
              <a:t> </a:t>
            </a:r>
            <a:r>
              <a:rPr sz="1076" b="0" dirty="0" err="1">
                <a:solidFill>
                  <a:srgbClr val="374151"/>
                </a:solidFill>
                <a:latin typeface="Noto Sans"/>
              </a:rPr>
              <a:t>прогнозов</a:t>
            </a:r>
            <a:endParaRPr sz="1076" b="0" dirty="0">
              <a:solidFill>
                <a:srgbClr val="374151"/>
              </a:solidFill>
              <a:latin typeface="Noto San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308</Words>
  <Application>Microsoft Office PowerPoint</Application>
  <PresentationFormat>Широкоэкранный</PresentationFormat>
  <Paragraphs>108</Paragraphs>
  <Slides>8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2" baseType="lpstr">
      <vt:lpstr>Arial</vt:lpstr>
      <vt:lpstr>Calibri</vt:lpstr>
      <vt:lpstr>Noto Sans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/>
  <cp:keywords/>
  <dc:description>generated using python-pptx</dc:description>
  <cp:lastModifiedBy>Timur</cp:lastModifiedBy>
  <cp:revision>6</cp:revision>
  <dcterms:created xsi:type="dcterms:W3CDTF">2013-01-27T09:14:16Z</dcterms:created>
  <dcterms:modified xsi:type="dcterms:W3CDTF">2026-05-13T15:32:19Z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{"Label":"1","ContentProducer":"001191110108MA01KP2T5U00000","ProduceID":"2ce14a3aa5710fa22dfabec23315baf0","ReservedCode1":"","ContentPropagator":"001191110108MA01KP2T5U00000","PropagateID":"2ce14a3aa5710fa22dfabec23315baf0","ReservedCode2":""}</vt:lpwstr>
  </property>
</Properties>
</file>